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77335C-E5F7-4743-B62F-0092FE92039D}" v="16" dt="2026-03-23T20:08:22.5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3"/>
    <p:restoredTop sz="94610"/>
  </p:normalViewPr>
  <p:slideViewPr>
    <p:cSldViewPr snapToGrid="0" snapToObjects="1">
      <p:cViewPr varScale="1">
        <p:scale>
          <a:sx n="169" d="100"/>
          <a:sy n="169" d="100"/>
        </p:scale>
        <p:origin x="192" y="3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7879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51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002D"/>
          </a:solidFill>
          <a:ln w="12700">
            <a:solidFill>
              <a:srgbClr val="E8002D"/>
            </a:solidFill>
            <a:prstDash val="solid"/>
          </a:ln>
        </p:spPr>
        <p:txBody>
          <a:bodyPr/>
          <a:lstStyle/>
          <a:p>
            <a:endParaRPr lang="en-US"/>
          </a:p>
        </p:txBody>
      </p:sp>
      <p:sp>
        <p:nvSpPr>
          <p:cNvPr id="3" name="Shape 1"/>
          <p:cNvSpPr/>
          <p:nvPr/>
        </p:nvSpPr>
        <p:spPr>
          <a:xfrm>
            <a:off x="0" y="5070348"/>
            <a:ext cx="9144000" cy="73152"/>
          </a:xfrm>
          <a:prstGeom prst="rect">
            <a:avLst/>
          </a:prstGeom>
          <a:solidFill>
            <a:srgbClr val="E8002D"/>
          </a:solidFill>
          <a:ln w="12700">
            <a:solidFill>
              <a:srgbClr val="E8002D"/>
            </a:solidFill>
            <a:prstDash val="solid"/>
          </a:ln>
        </p:spPr>
        <p:txBody>
          <a:bodyPr/>
          <a:lstStyle/>
          <a:p>
            <a:endParaRPr lang="en-US"/>
          </a:p>
        </p:txBody>
      </p:sp>
      <p:sp>
        <p:nvSpPr>
          <p:cNvPr id="4" name="Text 2"/>
          <p:cNvSpPr/>
          <p:nvPr/>
        </p:nvSpPr>
        <p:spPr>
          <a:xfrm>
            <a:off x="502920" y="640080"/>
            <a:ext cx="8229600" cy="1463040"/>
          </a:xfrm>
          <a:prstGeom prst="rect">
            <a:avLst/>
          </a:prstGeom>
          <a:noFill/>
          <a:ln/>
        </p:spPr>
        <p:txBody>
          <a:bodyPr wrap="square" lIns="0" tIns="0" rIns="0" bIns="0" rtlCol="0" anchor="ctr"/>
          <a:lstStyle/>
          <a:p>
            <a:pPr marL="0" indent="0" algn="l">
              <a:buNone/>
            </a:pPr>
            <a:r>
              <a:rPr lang="en-US" sz="12000" b="1" dirty="0">
                <a:solidFill>
                  <a:srgbClr val="E8002D"/>
                </a:solidFill>
                <a:latin typeface="Arial Black" pitchFamily="34" charset="0"/>
                <a:ea typeface="Arial Black" pitchFamily="34" charset="-122"/>
                <a:cs typeface="Arial Black" pitchFamily="34" charset="-120"/>
              </a:rPr>
              <a:t>F1</a:t>
            </a:r>
            <a:endParaRPr lang="en-US" sz="12000" dirty="0"/>
          </a:p>
        </p:txBody>
      </p:sp>
      <p:sp>
        <p:nvSpPr>
          <p:cNvPr id="5" name="Text 3"/>
          <p:cNvSpPr/>
          <p:nvPr/>
        </p:nvSpPr>
        <p:spPr>
          <a:xfrm>
            <a:off x="548640" y="1920240"/>
            <a:ext cx="8229600" cy="822960"/>
          </a:xfrm>
          <a:prstGeom prst="rect">
            <a:avLst/>
          </a:prstGeom>
          <a:noFill/>
          <a:ln/>
        </p:spPr>
        <p:txBody>
          <a:bodyPr wrap="square" lIns="0" tIns="0" rIns="0" bIns="0" rtlCol="0" anchor="ctr"/>
          <a:lstStyle/>
          <a:p>
            <a:pPr marL="0" indent="0" algn="l">
              <a:buNone/>
            </a:pPr>
            <a:r>
              <a:rPr lang="en-US" sz="3600" b="1" dirty="0">
                <a:solidFill>
                  <a:srgbClr val="FFFFFF"/>
                </a:solidFill>
                <a:latin typeface="Arial Black" pitchFamily="34" charset="0"/>
                <a:ea typeface="Arial Black" pitchFamily="34" charset="-122"/>
                <a:cs typeface="Arial Black" pitchFamily="34" charset="-120"/>
              </a:rPr>
              <a:t>Podium Prediction</a:t>
            </a:r>
            <a:endParaRPr lang="en-US" sz="3600" dirty="0"/>
          </a:p>
        </p:txBody>
      </p:sp>
      <p:sp>
        <p:nvSpPr>
          <p:cNvPr id="6" name="Text 4"/>
          <p:cNvSpPr/>
          <p:nvPr/>
        </p:nvSpPr>
        <p:spPr>
          <a:xfrm>
            <a:off x="548640" y="2697480"/>
            <a:ext cx="8229600" cy="457200"/>
          </a:xfrm>
          <a:prstGeom prst="rect">
            <a:avLst/>
          </a:prstGeom>
          <a:noFill/>
          <a:ln/>
        </p:spPr>
        <p:txBody>
          <a:bodyPr wrap="square" lIns="0" tIns="0" rIns="0" bIns="0" rtlCol="0" anchor="ctr"/>
          <a:lstStyle/>
          <a:p>
            <a:pPr marL="0" indent="0" algn="l">
              <a:buNone/>
            </a:pPr>
            <a:r>
              <a:rPr lang="en-US" sz="1600" dirty="0">
                <a:solidFill>
                  <a:srgbClr val="C8C8C8"/>
                </a:solidFill>
                <a:latin typeface="Calibri" pitchFamily="34" charset="0"/>
                <a:ea typeface="Calibri" pitchFamily="34" charset="-122"/>
                <a:cs typeface="Calibri" pitchFamily="34" charset="-120"/>
              </a:rPr>
              <a:t>Interpretable Machine Learning Project</a:t>
            </a:r>
            <a:endParaRPr lang="en-US" sz="1600" dirty="0"/>
          </a:p>
        </p:txBody>
      </p:sp>
      <p:sp>
        <p:nvSpPr>
          <p:cNvPr id="8" name="TextBox 7">
            <a:extLst>
              <a:ext uri="{FF2B5EF4-FFF2-40B4-BE49-F238E27FC236}">
                <a16:creationId xmlns:a16="http://schemas.microsoft.com/office/drawing/2014/main" id="{D2F718E7-39DE-0556-7CD3-AA9AC61E48FD}"/>
              </a:ext>
            </a:extLst>
          </p:cNvPr>
          <p:cNvSpPr txBox="1"/>
          <p:nvPr/>
        </p:nvSpPr>
        <p:spPr>
          <a:xfrm>
            <a:off x="450021" y="3060561"/>
            <a:ext cx="3751307" cy="276999"/>
          </a:xfrm>
          <a:prstGeom prst="rect">
            <a:avLst/>
          </a:prstGeom>
          <a:noFill/>
        </p:spPr>
        <p:txBody>
          <a:bodyPr wrap="square" rtlCol="0">
            <a:spAutoFit/>
          </a:bodyPr>
          <a:lstStyle/>
          <a:p>
            <a:r>
              <a:rPr lang="en-US" sz="1200" dirty="0">
                <a:solidFill>
                  <a:srgbClr val="C8C8C8"/>
                </a:solidFill>
                <a:latin typeface="Calibri" pitchFamily="34" charset="0"/>
                <a:ea typeface="Calibri" pitchFamily="34" charset="-122"/>
                <a:cs typeface="Calibri" pitchFamily="34" charset="-120"/>
              </a:rPr>
              <a:t>By Sunny Shen</a:t>
            </a:r>
            <a:endParaRPr lang="en-US" sz="12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5151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002D"/>
          </a:solidFill>
          <a:ln w="12700">
            <a:solidFill>
              <a:srgbClr val="E8002D"/>
            </a:solidFill>
            <a:prstDash val="solid"/>
          </a:ln>
        </p:spPr>
        <p:txBody>
          <a:bodyPr/>
          <a:lstStyle/>
          <a:p>
            <a:endParaRPr lang="en-US"/>
          </a:p>
        </p:txBody>
      </p:sp>
      <p:sp>
        <p:nvSpPr>
          <p:cNvPr id="3" name="Text 1"/>
          <p:cNvSpPr/>
          <p:nvPr/>
        </p:nvSpPr>
        <p:spPr>
          <a:xfrm>
            <a:off x="365760" y="256032"/>
            <a:ext cx="8503920" cy="502920"/>
          </a:xfrm>
          <a:prstGeom prst="rect">
            <a:avLst/>
          </a:prstGeom>
          <a:noFill/>
          <a:ln/>
        </p:spPr>
        <p:txBody>
          <a:bodyPr wrap="square" lIns="0" tIns="0" rIns="0" bIns="0"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Problem &amp; Dataset</a:t>
            </a:r>
            <a:endParaRPr lang="en-US" sz="2800" dirty="0"/>
          </a:p>
        </p:txBody>
      </p:sp>
      <p:sp>
        <p:nvSpPr>
          <p:cNvPr id="4" name="Shape 2"/>
          <p:cNvSpPr/>
          <p:nvPr/>
        </p:nvSpPr>
        <p:spPr>
          <a:xfrm>
            <a:off x="320040" y="914400"/>
            <a:ext cx="8503920" cy="777240"/>
          </a:xfrm>
          <a:prstGeom prst="rect">
            <a:avLst/>
          </a:prstGeom>
          <a:solidFill>
            <a:srgbClr val="E8002D"/>
          </a:solidFill>
          <a:ln w="12700">
            <a:solidFill>
              <a:srgbClr val="E8002D"/>
            </a:solidFill>
            <a:prstDash val="solid"/>
          </a:ln>
        </p:spPr>
        <p:txBody>
          <a:bodyPr/>
          <a:lstStyle/>
          <a:p>
            <a:endParaRPr lang="en-US"/>
          </a:p>
        </p:txBody>
      </p:sp>
      <p:sp>
        <p:nvSpPr>
          <p:cNvPr id="5" name="Text 3"/>
          <p:cNvSpPr/>
          <p:nvPr/>
        </p:nvSpPr>
        <p:spPr>
          <a:xfrm>
            <a:off x="320040" y="914400"/>
            <a:ext cx="8503920" cy="77724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Black" pitchFamily="34" charset="0"/>
                <a:ea typeface="Arial Black" pitchFamily="34" charset="-122"/>
                <a:cs typeface="Arial Black" pitchFamily="34" charset="-120"/>
              </a:rPr>
              <a:t>Can we predict if a driver will finish on the podium using only pre-race data?</a:t>
            </a:r>
            <a:endParaRPr lang="en-US" sz="1700" dirty="0"/>
          </a:p>
        </p:txBody>
      </p:sp>
      <p:sp>
        <p:nvSpPr>
          <p:cNvPr id="6" name="Shape 4"/>
          <p:cNvSpPr/>
          <p:nvPr/>
        </p:nvSpPr>
        <p:spPr>
          <a:xfrm>
            <a:off x="320040" y="1874520"/>
            <a:ext cx="4114800" cy="658368"/>
          </a:xfrm>
          <a:prstGeom prst="rect">
            <a:avLst/>
          </a:prstGeom>
          <a:solidFill>
            <a:srgbClr val="252535"/>
          </a:solidFill>
          <a:ln w="12700">
            <a:solidFill>
              <a:srgbClr val="383858"/>
            </a:solidFill>
            <a:prstDash val="solid"/>
          </a:ln>
        </p:spPr>
        <p:txBody>
          <a:bodyPr/>
          <a:lstStyle/>
          <a:p>
            <a:endParaRPr lang="en-US"/>
          </a:p>
        </p:txBody>
      </p:sp>
      <p:sp>
        <p:nvSpPr>
          <p:cNvPr id="7" name="Shape 5"/>
          <p:cNvSpPr/>
          <p:nvPr/>
        </p:nvSpPr>
        <p:spPr>
          <a:xfrm>
            <a:off x="320040" y="1874520"/>
            <a:ext cx="54864" cy="658368"/>
          </a:xfrm>
          <a:prstGeom prst="rect">
            <a:avLst/>
          </a:prstGeom>
          <a:solidFill>
            <a:srgbClr val="E8002D"/>
          </a:solidFill>
          <a:ln w="12700">
            <a:solidFill>
              <a:srgbClr val="E8002D"/>
            </a:solidFill>
            <a:prstDash val="solid"/>
          </a:ln>
        </p:spPr>
        <p:txBody>
          <a:bodyPr/>
          <a:lstStyle/>
          <a:p>
            <a:endParaRPr lang="en-US"/>
          </a:p>
        </p:txBody>
      </p:sp>
      <p:sp>
        <p:nvSpPr>
          <p:cNvPr id="8" name="Text 6"/>
          <p:cNvSpPr/>
          <p:nvPr/>
        </p:nvSpPr>
        <p:spPr>
          <a:xfrm>
            <a:off x="448056" y="1929384"/>
            <a:ext cx="3931920" cy="201168"/>
          </a:xfrm>
          <a:prstGeom prst="rect">
            <a:avLst/>
          </a:prstGeom>
          <a:noFill/>
          <a:ln/>
        </p:spPr>
        <p:txBody>
          <a:bodyPr wrap="square" lIns="0" tIns="0" rIns="0" bIns="0" rtlCol="0" anchor="ctr"/>
          <a:lstStyle/>
          <a:p>
            <a:pPr marL="0" indent="0">
              <a:buNone/>
            </a:pPr>
            <a:r>
              <a:rPr lang="en-US" sz="1000" b="1" dirty="0">
                <a:solidFill>
                  <a:srgbClr val="E8002D"/>
                </a:solidFill>
                <a:latin typeface="Calibri" pitchFamily="34" charset="0"/>
                <a:ea typeface="Calibri" pitchFamily="34" charset="-122"/>
                <a:cs typeface="Calibri" pitchFamily="34" charset="-120"/>
              </a:rPr>
              <a:t>Target</a:t>
            </a:r>
            <a:endParaRPr lang="en-US" sz="1000" dirty="0"/>
          </a:p>
        </p:txBody>
      </p:sp>
      <p:sp>
        <p:nvSpPr>
          <p:cNvPr id="9" name="Text 7"/>
          <p:cNvSpPr/>
          <p:nvPr/>
        </p:nvSpPr>
        <p:spPr>
          <a:xfrm>
            <a:off x="448056" y="2130552"/>
            <a:ext cx="3931920" cy="329184"/>
          </a:xfrm>
          <a:prstGeom prst="rect">
            <a:avLst/>
          </a:prstGeom>
          <a:noFill/>
          <a:ln/>
        </p:spPr>
        <p:txBody>
          <a:bodyPr wrap="square" lIns="0" tIns="0" rIns="0" bIns="0" rtlCol="0" anchor="ctr"/>
          <a:lstStyle/>
          <a:p>
            <a:r>
              <a:rPr lang="en-US" sz="1200" dirty="0">
                <a:solidFill>
                  <a:srgbClr val="C8C8C8"/>
                </a:solidFill>
                <a:latin typeface="Calibri" pitchFamily="34" charset="0"/>
                <a:ea typeface="Calibri" pitchFamily="34" charset="-122"/>
                <a:cs typeface="Calibri" pitchFamily="34" charset="-120"/>
              </a:rPr>
              <a:t>Binary classification — podium (1) if finish position ≤ 3, else 0</a:t>
            </a:r>
            <a:endParaRPr lang="en-US" sz="1200" dirty="0"/>
          </a:p>
        </p:txBody>
      </p:sp>
      <p:sp>
        <p:nvSpPr>
          <p:cNvPr id="10" name="Shape 8"/>
          <p:cNvSpPr/>
          <p:nvPr/>
        </p:nvSpPr>
        <p:spPr>
          <a:xfrm>
            <a:off x="320040" y="2606040"/>
            <a:ext cx="4114800" cy="731520"/>
          </a:xfrm>
          <a:prstGeom prst="rect">
            <a:avLst/>
          </a:prstGeom>
          <a:solidFill>
            <a:srgbClr val="252535"/>
          </a:solidFill>
          <a:ln w="12700">
            <a:solidFill>
              <a:srgbClr val="383858"/>
            </a:solidFill>
            <a:prstDash val="solid"/>
          </a:ln>
        </p:spPr>
        <p:txBody>
          <a:bodyPr/>
          <a:lstStyle/>
          <a:p>
            <a:endParaRPr lang="en-US"/>
          </a:p>
        </p:txBody>
      </p:sp>
      <p:sp>
        <p:nvSpPr>
          <p:cNvPr id="11" name="Shape 9"/>
          <p:cNvSpPr/>
          <p:nvPr/>
        </p:nvSpPr>
        <p:spPr>
          <a:xfrm>
            <a:off x="320040" y="2606040"/>
            <a:ext cx="60960" cy="731520"/>
          </a:xfrm>
          <a:prstGeom prst="rect">
            <a:avLst/>
          </a:prstGeom>
          <a:solidFill>
            <a:srgbClr val="E8002D"/>
          </a:solidFill>
          <a:ln w="12700">
            <a:solidFill>
              <a:srgbClr val="E8002D"/>
            </a:solidFill>
            <a:prstDash val="solid"/>
          </a:ln>
        </p:spPr>
        <p:txBody>
          <a:bodyPr/>
          <a:lstStyle/>
          <a:p>
            <a:endParaRPr lang="en-US"/>
          </a:p>
        </p:txBody>
      </p:sp>
      <p:sp>
        <p:nvSpPr>
          <p:cNvPr id="12" name="Text 10"/>
          <p:cNvSpPr/>
          <p:nvPr/>
        </p:nvSpPr>
        <p:spPr>
          <a:xfrm>
            <a:off x="448056" y="2660904"/>
            <a:ext cx="3931920" cy="201168"/>
          </a:xfrm>
          <a:prstGeom prst="rect">
            <a:avLst/>
          </a:prstGeom>
          <a:noFill/>
          <a:ln/>
        </p:spPr>
        <p:txBody>
          <a:bodyPr wrap="square" lIns="0" tIns="0" rIns="0" bIns="0" rtlCol="0" anchor="ctr"/>
          <a:lstStyle/>
          <a:p>
            <a:pPr marL="0" indent="0">
              <a:buNone/>
            </a:pPr>
            <a:r>
              <a:rPr lang="en-US" sz="1000" b="1" dirty="0">
                <a:solidFill>
                  <a:srgbClr val="E8002D"/>
                </a:solidFill>
                <a:latin typeface="Calibri" pitchFamily="34" charset="0"/>
                <a:ea typeface="Calibri" pitchFamily="34" charset="-122"/>
                <a:cs typeface="Calibri" pitchFamily="34" charset="-120"/>
              </a:rPr>
              <a:t>Era</a:t>
            </a:r>
            <a:endParaRPr lang="en-US" sz="1000" dirty="0"/>
          </a:p>
        </p:txBody>
      </p:sp>
      <p:sp>
        <p:nvSpPr>
          <p:cNvPr id="13" name="Text 11"/>
          <p:cNvSpPr/>
          <p:nvPr/>
        </p:nvSpPr>
        <p:spPr>
          <a:xfrm>
            <a:off x="448056" y="2904165"/>
            <a:ext cx="3931920" cy="329184"/>
          </a:xfrm>
          <a:prstGeom prst="rect">
            <a:avLst/>
          </a:prstGeom>
          <a:noFill/>
          <a:ln/>
        </p:spPr>
        <p:txBody>
          <a:bodyPr wrap="square" lIns="0" tIns="0" rIns="0" bIns="0" rtlCol="0" anchor="ctr"/>
          <a:lstStyle/>
          <a:p>
            <a:r>
              <a:rPr lang="en-US" sz="1200" dirty="0">
                <a:solidFill>
                  <a:srgbClr val="C8C8C8"/>
                </a:solidFill>
                <a:latin typeface="Calibri" pitchFamily="34" charset="0"/>
                <a:ea typeface="Calibri" pitchFamily="34" charset="-122"/>
                <a:cs typeface="Calibri" pitchFamily="34" charset="-120"/>
              </a:rPr>
              <a:t>2010–2023, filtered to the modern era to keep regulations consistent</a:t>
            </a:r>
            <a:endParaRPr lang="en-US" sz="1200" dirty="0"/>
          </a:p>
        </p:txBody>
      </p:sp>
      <p:sp>
        <p:nvSpPr>
          <p:cNvPr id="14" name="Shape 12"/>
          <p:cNvSpPr/>
          <p:nvPr/>
        </p:nvSpPr>
        <p:spPr>
          <a:xfrm>
            <a:off x="320040" y="3429000"/>
            <a:ext cx="4114800" cy="658368"/>
          </a:xfrm>
          <a:prstGeom prst="rect">
            <a:avLst/>
          </a:prstGeom>
          <a:solidFill>
            <a:srgbClr val="252535"/>
          </a:solidFill>
          <a:ln w="12700">
            <a:solidFill>
              <a:srgbClr val="383858"/>
            </a:solidFill>
            <a:prstDash val="solid"/>
          </a:ln>
        </p:spPr>
        <p:txBody>
          <a:bodyPr/>
          <a:lstStyle/>
          <a:p>
            <a:endParaRPr lang="en-US"/>
          </a:p>
        </p:txBody>
      </p:sp>
      <p:sp>
        <p:nvSpPr>
          <p:cNvPr id="15" name="Shape 13"/>
          <p:cNvSpPr/>
          <p:nvPr/>
        </p:nvSpPr>
        <p:spPr>
          <a:xfrm>
            <a:off x="320040" y="3438446"/>
            <a:ext cx="54864" cy="658368"/>
          </a:xfrm>
          <a:prstGeom prst="rect">
            <a:avLst/>
          </a:prstGeom>
          <a:solidFill>
            <a:srgbClr val="E8002D"/>
          </a:solidFill>
          <a:ln w="12700">
            <a:solidFill>
              <a:srgbClr val="E8002D"/>
            </a:solidFill>
            <a:prstDash val="solid"/>
          </a:ln>
        </p:spPr>
        <p:txBody>
          <a:bodyPr/>
          <a:lstStyle/>
          <a:p>
            <a:endParaRPr lang="en-US"/>
          </a:p>
        </p:txBody>
      </p:sp>
      <p:sp>
        <p:nvSpPr>
          <p:cNvPr id="16" name="Text 14"/>
          <p:cNvSpPr/>
          <p:nvPr/>
        </p:nvSpPr>
        <p:spPr>
          <a:xfrm>
            <a:off x="435102" y="3493008"/>
            <a:ext cx="3931920" cy="201168"/>
          </a:xfrm>
          <a:prstGeom prst="rect">
            <a:avLst/>
          </a:prstGeom>
          <a:noFill/>
          <a:ln/>
        </p:spPr>
        <p:txBody>
          <a:bodyPr wrap="square" lIns="0" tIns="0" rIns="0" bIns="0" rtlCol="0" anchor="ctr"/>
          <a:lstStyle/>
          <a:p>
            <a:pPr marL="0" indent="0">
              <a:buNone/>
            </a:pPr>
            <a:r>
              <a:rPr lang="en-US" sz="1000" b="1" dirty="0">
                <a:solidFill>
                  <a:srgbClr val="E8002D"/>
                </a:solidFill>
                <a:latin typeface="Calibri" pitchFamily="34" charset="0"/>
                <a:ea typeface="Calibri" pitchFamily="34" charset="-122"/>
                <a:cs typeface="Calibri" pitchFamily="34" charset="-120"/>
              </a:rPr>
              <a:t>Source</a:t>
            </a:r>
            <a:endParaRPr lang="en-US" sz="1000" dirty="0"/>
          </a:p>
        </p:txBody>
      </p:sp>
      <p:sp>
        <p:nvSpPr>
          <p:cNvPr id="17" name="Text 15"/>
          <p:cNvSpPr/>
          <p:nvPr/>
        </p:nvSpPr>
        <p:spPr>
          <a:xfrm>
            <a:off x="435102" y="3648456"/>
            <a:ext cx="3931920" cy="329184"/>
          </a:xfrm>
          <a:prstGeom prst="rect">
            <a:avLst/>
          </a:prstGeom>
          <a:noFill/>
          <a:ln/>
        </p:spPr>
        <p:txBody>
          <a:bodyPr wrap="square" lIns="0" tIns="0" rIns="0" bIns="0" rtlCol="0" anchor="ctr"/>
          <a:lstStyle/>
          <a:p>
            <a:pPr marL="0" indent="0">
              <a:buNone/>
            </a:pPr>
            <a:r>
              <a:rPr lang="en-US" sz="1200" dirty="0">
                <a:solidFill>
                  <a:srgbClr val="C8C8C8"/>
                </a:solidFill>
                <a:latin typeface="Calibri" pitchFamily="34" charset="0"/>
                <a:ea typeface="Calibri" pitchFamily="34" charset="-122"/>
                <a:cs typeface="Calibri" pitchFamily="34" charset="-120"/>
              </a:rPr>
              <a:t>Ergast API  —  results, qualifying, races, drivers, constructors</a:t>
            </a:r>
            <a:endParaRPr lang="en-US" sz="1200" dirty="0"/>
          </a:p>
        </p:txBody>
      </p:sp>
      <p:sp>
        <p:nvSpPr>
          <p:cNvPr id="18" name="Shape 16"/>
          <p:cNvSpPr/>
          <p:nvPr/>
        </p:nvSpPr>
        <p:spPr>
          <a:xfrm>
            <a:off x="4663440" y="1874520"/>
            <a:ext cx="4114800" cy="658368"/>
          </a:xfrm>
          <a:prstGeom prst="rect">
            <a:avLst/>
          </a:prstGeom>
          <a:solidFill>
            <a:srgbClr val="252535"/>
          </a:solidFill>
          <a:ln w="12700">
            <a:solidFill>
              <a:srgbClr val="383858"/>
            </a:solidFill>
            <a:prstDash val="solid"/>
          </a:ln>
        </p:spPr>
        <p:txBody>
          <a:bodyPr/>
          <a:lstStyle/>
          <a:p>
            <a:endParaRPr lang="en-US"/>
          </a:p>
        </p:txBody>
      </p:sp>
      <p:sp>
        <p:nvSpPr>
          <p:cNvPr id="19" name="Shape 17"/>
          <p:cNvSpPr/>
          <p:nvPr/>
        </p:nvSpPr>
        <p:spPr>
          <a:xfrm>
            <a:off x="4663440" y="1874520"/>
            <a:ext cx="54864" cy="658368"/>
          </a:xfrm>
          <a:prstGeom prst="rect">
            <a:avLst/>
          </a:prstGeom>
          <a:solidFill>
            <a:srgbClr val="FF1801"/>
          </a:solidFill>
          <a:ln w="12700">
            <a:solidFill>
              <a:srgbClr val="FF1801"/>
            </a:solidFill>
            <a:prstDash val="solid"/>
          </a:ln>
        </p:spPr>
        <p:txBody>
          <a:bodyPr/>
          <a:lstStyle/>
          <a:p>
            <a:endParaRPr lang="en-US"/>
          </a:p>
        </p:txBody>
      </p:sp>
      <p:sp>
        <p:nvSpPr>
          <p:cNvPr id="20" name="Text 18"/>
          <p:cNvSpPr/>
          <p:nvPr/>
        </p:nvSpPr>
        <p:spPr>
          <a:xfrm>
            <a:off x="4791456" y="1929384"/>
            <a:ext cx="3931920" cy="201168"/>
          </a:xfrm>
          <a:prstGeom prst="rect">
            <a:avLst/>
          </a:prstGeom>
          <a:noFill/>
          <a:ln/>
        </p:spPr>
        <p:txBody>
          <a:bodyPr wrap="square" lIns="0" tIns="0" rIns="0" bIns="0" rtlCol="0" anchor="ctr"/>
          <a:lstStyle/>
          <a:p>
            <a:pPr marL="0" indent="0">
              <a:buNone/>
            </a:pPr>
            <a:r>
              <a:rPr lang="en-US" sz="1000" b="1" dirty="0">
                <a:solidFill>
                  <a:srgbClr val="FF1801"/>
                </a:solidFill>
                <a:latin typeface="Calibri" pitchFamily="34" charset="0"/>
                <a:ea typeface="Calibri" pitchFamily="34" charset="-122"/>
                <a:cs typeface="Calibri" pitchFamily="34" charset="-120"/>
              </a:rPr>
              <a:t>Class balance</a:t>
            </a:r>
            <a:endParaRPr lang="en-US" sz="1000" dirty="0"/>
          </a:p>
        </p:txBody>
      </p:sp>
      <p:sp>
        <p:nvSpPr>
          <p:cNvPr id="21" name="Text 19"/>
          <p:cNvSpPr/>
          <p:nvPr/>
        </p:nvSpPr>
        <p:spPr>
          <a:xfrm>
            <a:off x="4791456" y="2130552"/>
            <a:ext cx="3931920" cy="329184"/>
          </a:xfrm>
          <a:prstGeom prst="rect">
            <a:avLst/>
          </a:prstGeom>
          <a:noFill/>
          <a:ln/>
        </p:spPr>
        <p:txBody>
          <a:bodyPr wrap="square" lIns="0" tIns="0" rIns="0" bIns="0" rtlCol="0" anchor="ctr"/>
          <a:lstStyle/>
          <a:p>
            <a:r>
              <a:rPr lang="en-US" sz="1200" dirty="0">
                <a:solidFill>
                  <a:srgbClr val="C8C8C8"/>
                </a:solidFill>
                <a:latin typeface="Calibri" pitchFamily="34" charset="0"/>
                <a:ea typeface="Calibri" pitchFamily="34" charset="-122"/>
                <a:cs typeface="Calibri" pitchFamily="34" charset="-120"/>
              </a:rPr>
              <a:t>~15% podium rate — only 3 of ~20 drivers podium per race</a:t>
            </a:r>
            <a:endParaRPr lang="en-US" sz="1200" dirty="0"/>
          </a:p>
        </p:txBody>
      </p:sp>
      <p:sp>
        <p:nvSpPr>
          <p:cNvPr id="22" name="Shape 20"/>
          <p:cNvSpPr/>
          <p:nvPr/>
        </p:nvSpPr>
        <p:spPr>
          <a:xfrm>
            <a:off x="4663440" y="2606040"/>
            <a:ext cx="4114800" cy="658368"/>
          </a:xfrm>
          <a:prstGeom prst="rect">
            <a:avLst/>
          </a:prstGeom>
          <a:solidFill>
            <a:srgbClr val="252535"/>
          </a:solidFill>
          <a:ln w="12700">
            <a:solidFill>
              <a:srgbClr val="383858"/>
            </a:solidFill>
            <a:prstDash val="solid"/>
          </a:ln>
        </p:spPr>
        <p:txBody>
          <a:bodyPr/>
          <a:lstStyle/>
          <a:p>
            <a:endParaRPr lang="en-US"/>
          </a:p>
        </p:txBody>
      </p:sp>
      <p:sp>
        <p:nvSpPr>
          <p:cNvPr id="23" name="Shape 21"/>
          <p:cNvSpPr/>
          <p:nvPr/>
        </p:nvSpPr>
        <p:spPr>
          <a:xfrm>
            <a:off x="4663440" y="2606040"/>
            <a:ext cx="54864" cy="658368"/>
          </a:xfrm>
          <a:prstGeom prst="rect">
            <a:avLst/>
          </a:prstGeom>
          <a:solidFill>
            <a:srgbClr val="FF1801"/>
          </a:solidFill>
          <a:ln w="12700">
            <a:solidFill>
              <a:srgbClr val="FF1801"/>
            </a:solidFill>
            <a:prstDash val="solid"/>
          </a:ln>
        </p:spPr>
        <p:txBody>
          <a:bodyPr/>
          <a:lstStyle/>
          <a:p>
            <a:endParaRPr lang="en-US"/>
          </a:p>
        </p:txBody>
      </p:sp>
      <p:sp>
        <p:nvSpPr>
          <p:cNvPr id="24" name="Text 22"/>
          <p:cNvSpPr/>
          <p:nvPr/>
        </p:nvSpPr>
        <p:spPr>
          <a:xfrm>
            <a:off x="4791456" y="2660904"/>
            <a:ext cx="3931920" cy="201168"/>
          </a:xfrm>
          <a:prstGeom prst="rect">
            <a:avLst/>
          </a:prstGeom>
          <a:noFill/>
          <a:ln/>
        </p:spPr>
        <p:txBody>
          <a:bodyPr wrap="square" lIns="0" tIns="0" rIns="0" bIns="0" rtlCol="0" anchor="ctr"/>
          <a:lstStyle/>
          <a:p>
            <a:pPr marL="0" indent="0">
              <a:buNone/>
            </a:pPr>
            <a:r>
              <a:rPr lang="en-US" sz="1000" b="1" dirty="0">
                <a:solidFill>
                  <a:srgbClr val="FF1801"/>
                </a:solidFill>
                <a:latin typeface="Calibri" pitchFamily="34" charset="0"/>
                <a:ea typeface="Calibri" pitchFamily="34" charset="-122"/>
                <a:cs typeface="Calibri" pitchFamily="34" charset="-120"/>
              </a:rPr>
              <a:t>Train / Test</a:t>
            </a:r>
            <a:endParaRPr lang="en-US" sz="1000" dirty="0"/>
          </a:p>
        </p:txBody>
      </p:sp>
      <p:sp>
        <p:nvSpPr>
          <p:cNvPr id="25" name="Text 23"/>
          <p:cNvSpPr/>
          <p:nvPr/>
        </p:nvSpPr>
        <p:spPr>
          <a:xfrm>
            <a:off x="4791456" y="2862072"/>
            <a:ext cx="3931920" cy="329184"/>
          </a:xfrm>
          <a:prstGeom prst="rect">
            <a:avLst/>
          </a:prstGeom>
          <a:noFill/>
          <a:ln/>
        </p:spPr>
        <p:txBody>
          <a:bodyPr wrap="square" lIns="0" tIns="0" rIns="0" bIns="0" rtlCol="0" anchor="ctr"/>
          <a:lstStyle/>
          <a:p>
            <a:r>
              <a:rPr lang="en-US" sz="1200" dirty="0">
                <a:solidFill>
                  <a:srgbClr val="C8C8C8"/>
                </a:solidFill>
                <a:latin typeface="Calibri" pitchFamily="34" charset="0"/>
                <a:ea typeface="Calibri" pitchFamily="34" charset="-122"/>
                <a:cs typeface="Calibri" pitchFamily="34" charset="-120"/>
              </a:rPr>
              <a:t>Temporal split: trained on 2010–2020, evaluated on 2021–2023</a:t>
            </a:r>
            <a:endParaRPr lang="en-US" sz="1200" dirty="0"/>
          </a:p>
        </p:txBody>
      </p:sp>
      <p:sp>
        <p:nvSpPr>
          <p:cNvPr id="26" name="Shape 24"/>
          <p:cNvSpPr/>
          <p:nvPr/>
        </p:nvSpPr>
        <p:spPr>
          <a:xfrm>
            <a:off x="4663440" y="3337560"/>
            <a:ext cx="4114800" cy="749808"/>
          </a:xfrm>
          <a:prstGeom prst="rect">
            <a:avLst/>
          </a:prstGeom>
          <a:solidFill>
            <a:srgbClr val="252535"/>
          </a:solidFill>
          <a:ln w="12700">
            <a:solidFill>
              <a:srgbClr val="383858"/>
            </a:solidFill>
            <a:prstDash val="solid"/>
          </a:ln>
        </p:spPr>
        <p:txBody>
          <a:bodyPr/>
          <a:lstStyle/>
          <a:p>
            <a:endParaRPr lang="en-US"/>
          </a:p>
        </p:txBody>
      </p:sp>
      <p:sp>
        <p:nvSpPr>
          <p:cNvPr id="27" name="Shape 25"/>
          <p:cNvSpPr/>
          <p:nvPr/>
        </p:nvSpPr>
        <p:spPr>
          <a:xfrm>
            <a:off x="4663440" y="3337560"/>
            <a:ext cx="62484" cy="749808"/>
          </a:xfrm>
          <a:prstGeom prst="rect">
            <a:avLst/>
          </a:prstGeom>
          <a:solidFill>
            <a:srgbClr val="FF1801"/>
          </a:solidFill>
          <a:ln w="12700">
            <a:solidFill>
              <a:srgbClr val="FF1801"/>
            </a:solidFill>
            <a:prstDash val="solid"/>
          </a:ln>
        </p:spPr>
        <p:txBody>
          <a:bodyPr/>
          <a:lstStyle/>
          <a:p>
            <a:endParaRPr lang="en-US"/>
          </a:p>
        </p:txBody>
      </p:sp>
      <p:sp>
        <p:nvSpPr>
          <p:cNvPr id="28" name="Text 26"/>
          <p:cNvSpPr/>
          <p:nvPr/>
        </p:nvSpPr>
        <p:spPr>
          <a:xfrm>
            <a:off x="4791456" y="3392424"/>
            <a:ext cx="3931920" cy="201168"/>
          </a:xfrm>
          <a:prstGeom prst="rect">
            <a:avLst/>
          </a:prstGeom>
          <a:noFill/>
          <a:ln/>
        </p:spPr>
        <p:txBody>
          <a:bodyPr wrap="square" lIns="0" tIns="0" rIns="0" bIns="0" rtlCol="0" anchor="ctr"/>
          <a:lstStyle/>
          <a:p>
            <a:pPr marL="0" indent="0">
              <a:buNone/>
            </a:pPr>
            <a:r>
              <a:rPr lang="en-US" sz="1000" b="1" dirty="0">
                <a:solidFill>
                  <a:srgbClr val="FF1801"/>
                </a:solidFill>
                <a:latin typeface="Calibri" pitchFamily="34" charset="0"/>
                <a:ea typeface="Calibri" pitchFamily="34" charset="-122"/>
                <a:cs typeface="Calibri" pitchFamily="34" charset="-120"/>
              </a:rPr>
              <a:t>Why temporal split?</a:t>
            </a:r>
            <a:endParaRPr lang="en-US" sz="1000" dirty="0"/>
          </a:p>
        </p:txBody>
      </p:sp>
      <p:sp>
        <p:nvSpPr>
          <p:cNvPr id="29" name="Text 27"/>
          <p:cNvSpPr/>
          <p:nvPr/>
        </p:nvSpPr>
        <p:spPr>
          <a:xfrm>
            <a:off x="4791456" y="3648456"/>
            <a:ext cx="3931920" cy="329184"/>
          </a:xfrm>
          <a:prstGeom prst="rect">
            <a:avLst/>
          </a:prstGeom>
          <a:noFill/>
          <a:ln/>
        </p:spPr>
        <p:txBody>
          <a:bodyPr wrap="square" lIns="0" tIns="0" rIns="0" bIns="0" rtlCol="0" anchor="ctr"/>
          <a:lstStyle/>
          <a:p>
            <a:r>
              <a:rPr lang="en-US" sz="1200" dirty="0">
                <a:solidFill>
                  <a:srgbClr val="C8C8C8"/>
                </a:solidFill>
                <a:latin typeface="Calibri" pitchFamily="34" charset="0"/>
                <a:ea typeface="Calibri" pitchFamily="34" charset="-122"/>
                <a:cs typeface="Calibri" pitchFamily="34" charset="-120"/>
              </a:rPr>
              <a:t>A random split would leak future race data into training, leading to an invalid evaluation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151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002D"/>
          </a:solidFill>
          <a:ln w="12700">
            <a:solidFill>
              <a:srgbClr val="E8002D"/>
            </a:solidFill>
            <a:prstDash val="solid"/>
          </a:ln>
        </p:spPr>
        <p:txBody>
          <a:bodyPr/>
          <a:lstStyle/>
          <a:p>
            <a:endParaRPr lang="en-US"/>
          </a:p>
        </p:txBody>
      </p:sp>
      <p:sp>
        <p:nvSpPr>
          <p:cNvPr id="3" name="Text 1"/>
          <p:cNvSpPr/>
          <p:nvPr/>
        </p:nvSpPr>
        <p:spPr>
          <a:xfrm>
            <a:off x="365760" y="256032"/>
            <a:ext cx="8503920" cy="502920"/>
          </a:xfrm>
          <a:prstGeom prst="rect">
            <a:avLst/>
          </a:prstGeom>
          <a:noFill/>
          <a:ln/>
        </p:spPr>
        <p:txBody>
          <a:bodyPr wrap="square" lIns="0" tIns="0" rIns="0" bIns="0"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Feature Engineering</a:t>
            </a:r>
            <a:endParaRPr lang="en-US" sz="2800" dirty="0"/>
          </a:p>
        </p:txBody>
      </p:sp>
      <p:sp>
        <p:nvSpPr>
          <p:cNvPr id="4" name="Shape 2"/>
          <p:cNvSpPr/>
          <p:nvPr/>
        </p:nvSpPr>
        <p:spPr>
          <a:xfrm>
            <a:off x="320040" y="960120"/>
            <a:ext cx="8503920" cy="713232"/>
          </a:xfrm>
          <a:prstGeom prst="rect">
            <a:avLst/>
          </a:prstGeom>
          <a:solidFill>
            <a:srgbClr val="252535"/>
          </a:solidFill>
          <a:ln w="12700">
            <a:solidFill>
              <a:srgbClr val="383858"/>
            </a:solidFill>
            <a:prstDash val="solid"/>
          </a:ln>
        </p:spPr>
        <p:txBody>
          <a:bodyPr/>
          <a:lstStyle/>
          <a:p>
            <a:endParaRPr lang="en-US"/>
          </a:p>
        </p:txBody>
      </p:sp>
      <p:sp>
        <p:nvSpPr>
          <p:cNvPr id="5" name="Shape 3"/>
          <p:cNvSpPr/>
          <p:nvPr/>
        </p:nvSpPr>
        <p:spPr>
          <a:xfrm>
            <a:off x="320040" y="960120"/>
            <a:ext cx="54864" cy="713232"/>
          </a:xfrm>
          <a:prstGeom prst="rect">
            <a:avLst/>
          </a:prstGeom>
          <a:solidFill>
            <a:srgbClr val="E8002D"/>
          </a:solidFill>
          <a:ln w="12700">
            <a:solidFill>
              <a:srgbClr val="E8002D"/>
            </a:solidFill>
            <a:prstDash val="solid"/>
          </a:ln>
        </p:spPr>
        <p:txBody>
          <a:bodyPr/>
          <a:lstStyle/>
          <a:p>
            <a:endParaRPr lang="en-US"/>
          </a:p>
        </p:txBody>
      </p:sp>
      <p:sp>
        <p:nvSpPr>
          <p:cNvPr id="6" name="Text 4"/>
          <p:cNvSpPr/>
          <p:nvPr/>
        </p:nvSpPr>
        <p:spPr>
          <a:xfrm>
            <a:off x="457200" y="1033272"/>
            <a:ext cx="2377440" cy="228600"/>
          </a:xfrm>
          <a:prstGeom prst="rect">
            <a:avLst/>
          </a:prstGeom>
          <a:noFill/>
          <a:ln/>
        </p:spPr>
        <p:txBody>
          <a:bodyPr wrap="square" lIns="0" tIns="0" rIns="0" bIns="0" rtlCol="0" anchor="ctr"/>
          <a:lstStyle/>
          <a:p>
            <a:pPr marL="0" indent="0">
              <a:buNone/>
            </a:pPr>
            <a:r>
              <a:rPr lang="en-US" sz="1200" b="1" dirty="0">
                <a:solidFill>
                  <a:srgbClr val="E8002D"/>
                </a:solidFill>
                <a:latin typeface="Consolas" pitchFamily="34" charset="0"/>
                <a:ea typeface="Consolas" pitchFamily="34" charset="-122"/>
                <a:cs typeface="Consolas" pitchFamily="34" charset="-120"/>
              </a:rPr>
              <a:t>grid_position</a:t>
            </a:r>
            <a:endParaRPr lang="en-US" sz="1200" dirty="0"/>
          </a:p>
        </p:txBody>
      </p:sp>
      <p:sp>
        <p:nvSpPr>
          <p:cNvPr id="7" name="Text 5"/>
          <p:cNvSpPr/>
          <p:nvPr/>
        </p:nvSpPr>
        <p:spPr>
          <a:xfrm>
            <a:off x="457200" y="1280160"/>
            <a:ext cx="5303520" cy="292608"/>
          </a:xfrm>
          <a:prstGeom prst="rect">
            <a:avLst/>
          </a:prstGeom>
          <a:noFill/>
          <a:ln/>
        </p:spPr>
        <p:txBody>
          <a:bodyPr wrap="square" lIns="0" tIns="0" rIns="0" bIns="0" rtlCol="0" anchor="ctr"/>
          <a:lstStyle/>
          <a:p>
            <a:pPr marL="0" indent="0">
              <a:buNone/>
            </a:pPr>
            <a:r>
              <a:rPr lang="en-US" sz="1100" dirty="0">
                <a:solidFill>
                  <a:srgbClr val="C8C8C8"/>
                </a:solidFill>
                <a:latin typeface="Calibri" pitchFamily="34" charset="0"/>
                <a:ea typeface="Calibri" pitchFamily="34" charset="-122"/>
                <a:cs typeface="Calibri" pitchFamily="34" charset="-120"/>
              </a:rPr>
              <a:t>Where the driver qualified. Ended up being the strongest predictor of race outcome.</a:t>
            </a:r>
            <a:endParaRPr lang="en-US" sz="1100" dirty="0"/>
          </a:p>
        </p:txBody>
      </p:sp>
      <p:sp>
        <p:nvSpPr>
          <p:cNvPr id="8" name="Shape 6"/>
          <p:cNvSpPr/>
          <p:nvPr/>
        </p:nvSpPr>
        <p:spPr>
          <a:xfrm>
            <a:off x="6035040" y="1088136"/>
            <a:ext cx="2651760" cy="420624"/>
          </a:xfrm>
          <a:prstGeom prst="rect">
            <a:avLst/>
          </a:prstGeom>
          <a:solidFill>
            <a:srgbClr val="1A1A2E"/>
          </a:solidFill>
          <a:ln w="12700">
            <a:solidFill>
              <a:srgbClr val="383858"/>
            </a:solidFill>
            <a:prstDash val="solid"/>
          </a:ln>
        </p:spPr>
        <p:txBody>
          <a:bodyPr/>
          <a:lstStyle/>
          <a:p>
            <a:endParaRPr lang="en-US"/>
          </a:p>
        </p:txBody>
      </p:sp>
      <p:sp>
        <p:nvSpPr>
          <p:cNvPr id="9" name="Text 7"/>
          <p:cNvSpPr/>
          <p:nvPr/>
        </p:nvSpPr>
        <p:spPr>
          <a:xfrm>
            <a:off x="6080760" y="1088136"/>
            <a:ext cx="2606040" cy="420624"/>
          </a:xfrm>
          <a:prstGeom prst="rect">
            <a:avLst/>
          </a:prstGeom>
          <a:noFill/>
          <a:ln/>
        </p:spPr>
        <p:txBody>
          <a:bodyPr wrap="square" lIns="50800" tIns="50800" rIns="50800" bIns="50800" rtlCol="0" anchor="ctr"/>
          <a:lstStyle/>
          <a:p>
            <a:pPr marL="0" indent="0">
              <a:buNone/>
            </a:pPr>
            <a:r>
              <a:rPr lang="en-US" sz="950" dirty="0">
                <a:solidFill>
                  <a:srgbClr val="8888AA"/>
                </a:solidFill>
                <a:latin typeface="Calibri" pitchFamily="34" charset="0"/>
                <a:ea typeface="Calibri" pitchFamily="34" charset="-122"/>
                <a:cs typeface="Calibri" pitchFamily="34" charset="-120"/>
              </a:rPr>
              <a:t>Raw → kept as-is</a:t>
            </a:r>
            <a:endParaRPr lang="en-US" sz="950" dirty="0"/>
          </a:p>
        </p:txBody>
      </p:sp>
      <p:sp>
        <p:nvSpPr>
          <p:cNvPr id="10" name="Shape 8"/>
          <p:cNvSpPr/>
          <p:nvPr/>
        </p:nvSpPr>
        <p:spPr>
          <a:xfrm>
            <a:off x="320040" y="1764792"/>
            <a:ext cx="8503920" cy="713232"/>
          </a:xfrm>
          <a:prstGeom prst="rect">
            <a:avLst/>
          </a:prstGeom>
          <a:solidFill>
            <a:srgbClr val="252535"/>
          </a:solidFill>
          <a:ln w="12700">
            <a:solidFill>
              <a:srgbClr val="383858"/>
            </a:solidFill>
            <a:prstDash val="solid"/>
          </a:ln>
        </p:spPr>
        <p:txBody>
          <a:bodyPr/>
          <a:lstStyle/>
          <a:p>
            <a:endParaRPr lang="en-US"/>
          </a:p>
        </p:txBody>
      </p:sp>
      <p:sp>
        <p:nvSpPr>
          <p:cNvPr id="11" name="Shape 9"/>
          <p:cNvSpPr/>
          <p:nvPr/>
        </p:nvSpPr>
        <p:spPr>
          <a:xfrm>
            <a:off x="320040" y="1764792"/>
            <a:ext cx="54864" cy="713232"/>
          </a:xfrm>
          <a:prstGeom prst="rect">
            <a:avLst/>
          </a:prstGeom>
          <a:solidFill>
            <a:srgbClr val="E8002D"/>
          </a:solidFill>
          <a:ln w="12700">
            <a:solidFill>
              <a:srgbClr val="E8002D"/>
            </a:solidFill>
            <a:prstDash val="solid"/>
          </a:ln>
        </p:spPr>
        <p:txBody>
          <a:bodyPr/>
          <a:lstStyle/>
          <a:p>
            <a:endParaRPr lang="en-US"/>
          </a:p>
        </p:txBody>
      </p:sp>
      <p:sp>
        <p:nvSpPr>
          <p:cNvPr id="12" name="Text 10"/>
          <p:cNvSpPr/>
          <p:nvPr/>
        </p:nvSpPr>
        <p:spPr>
          <a:xfrm>
            <a:off x="457200" y="1837944"/>
            <a:ext cx="2377440" cy="228600"/>
          </a:xfrm>
          <a:prstGeom prst="rect">
            <a:avLst/>
          </a:prstGeom>
          <a:noFill/>
          <a:ln/>
        </p:spPr>
        <p:txBody>
          <a:bodyPr wrap="square" lIns="0" tIns="0" rIns="0" bIns="0" rtlCol="0" anchor="ctr"/>
          <a:lstStyle/>
          <a:p>
            <a:pPr marL="0" indent="0">
              <a:buNone/>
            </a:pPr>
            <a:r>
              <a:rPr lang="en-US" sz="1200" b="1" dirty="0">
                <a:solidFill>
                  <a:srgbClr val="E8002D"/>
                </a:solidFill>
                <a:latin typeface="Consolas" pitchFamily="34" charset="0"/>
                <a:ea typeface="Consolas" pitchFamily="34" charset="-122"/>
                <a:cs typeface="Consolas" pitchFamily="34" charset="-120"/>
              </a:rPr>
              <a:t>rolling_pts_3</a:t>
            </a:r>
            <a:endParaRPr lang="en-US" sz="1200" dirty="0"/>
          </a:p>
        </p:txBody>
      </p:sp>
      <p:sp>
        <p:nvSpPr>
          <p:cNvPr id="13" name="Text 11"/>
          <p:cNvSpPr/>
          <p:nvPr/>
        </p:nvSpPr>
        <p:spPr>
          <a:xfrm>
            <a:off x="457200" y="2084832"/>
            <a:ext cx="5303520" cy="292608"/>
          </a:xfrm>
          <a:prstGeom prst="rect">
            <a:avLst/>
          </a:prstGeom>
          <a:noFill/>
          <a:ln/>
        </p:spPr>
        <p:txBody>
          <a:bodyPr wrap="square" lIns="0" tIns="0" rIns="0" bIns="0" rtlCol="0" anchor="ctr"/>
          <a:lstStyle/>
          <a:p>
            <a:pPr marL="0" indent="0">
              <a:buNone/>
            </a:pPr>
            <a:r>
              <a:rPr lang="en-US" sz="1100" dirty="0">
                <a:solidFill>
                  <a:srgbClr val="C8C8C8"/>
                </a:solidFill>
                <a:latin typeface="Calibri" pitchFamily="34" charset="0"/>
                <a:ea typeface="Calibri" pitchFamily="34" charset="-122"/>
                <a:cs typeface="Calibri" pitchFamily="34" charset="-120"/>
              </a:rPr>
              <a:t>Average points over the driver's last 3 races. Captures current form and momentum.</a:t>
            </a:r>
            <a:endParaRPr lang="en-US" sz="1100" dirty="0"/>
          </a:p>
        </p:txBody>
      </p:sp>
      <p:sp>
        <p:nvSpPr>
          <p:cNvPr id="14" name="Shape 12"/>
          <p:cNvSpPr/>
          <p:nvPr/>
        </p:nvSpPr>
        <p:spPr>
          <a:xfrm>
            <a:off x="6035040" y="1892808"/>
            <a:ext cx="2651760" cy="420624"/>
          </a:xfrm>
          <a:prstGeom prst="rect">
            <a:avLst/>
          </a:prstGeom>
          <a:solidFill>
            <a:srgbClr val="1A1A2E"/>
          </a:solidFill>
          <a:ln w="12700">
            <a:solidFill>
              <a:srgbClr val="383858"/>
            </a:solidFill>
            <a:prstDash val="solid"/>
          </a:ln>
        </p:spPr>
        <p:txBody>
          <a:bodyPr/>
          <a:lstStyle/>
          <a:p>
            <a:endParaRPr lang="en-US"/>
          </a:p>
        </p:txBody>
      </p:sp>
      <p:sp>
        <p:nvSpPr>
          <p:cNvPr id="15" name="Text 13"/>
          <p:cNvSpPr/>
          <p:nvPr/>
        </p:nvSpPr>
        <p:spPr>
          <a:xfrm>
            <a:off x="6080760" y="1892808"/>
            <a:ext cx="2606040" cy="420624"/>
          </a:xfrm>
          <a:prstGeom prst="rect">
            <a:avLst/>
          </a:prstGeom>
          <a:noFill/>
          <a:ln/>
        </p:spPr>
        <p:txBody>
          <a:bodyPr wrap="square" lIns="50800" tIns="50800" rIns="50800" bIns="50800" rtlCol="0" anchor="ctr"/>
          <a:lstStyle/>
          <a:p>
            <a:pPr marL="0" indent="0">
              <a:buNone/>
            </a:pPr>
            <a:r>
              <a:rPr lang="en-US" sz="950" dirty="0">
                <a:solidFill>
                  <a:srgbClr val="8888AA"/>
                </a:solidFill>
                <a:latin typeface="Calibri" pitchFamily="34" charset="0"/>
                <a:ea typeface="Calibri" pitchFamily="34" charset="-122"/>
                <a:cs typeface="Calibri" pitchFamily="34" charset="-120"/>
              </a:rPr>
              <a:t>Engineered — needs .shift(1) to avoid leakage</a:t>
            </a:r>
            <a:endParaRPr lang="en-US" sz="950" dirty="0"/>
          </a:p>
        </p:txBody>
      </p:sp>
      <p:sp>
        <p:nvSpPr>
          <p:cNvPr id="16" name="Shape 14"/>
          <p:cNvSpPr/>
          <p:nvPr/>
        </p:nvSpPr>
        <p:spPr>
          <a:xfrm>
            <a:off x="320040" y="2569464"/>
            <a:ext cx="8503920" cy="713232"/>
          </a:xfrm>
          <a:prstGeom prst="rect">
            <a:avLst/>
          </a:prstGeom>
          <a:solidFill>
            <a:srgbClr val="252535"/>
          </a:solidFill>
          <a:ln w="12700">
            <a:solidFill>
              <a:srgbClr val="383858"/>
            </a:solidFill>
            <a:prstDash val="solid"/>
          </a:ln>
        </p:spPr>
        <p:txBody>
          <a:bodyPr/>
          <a:lstStyle/>
          <a:p>
            <a:endParaRPr lang="en-US" dirty="0"/>
          </a:p>
        </p:txBody>
      </p:sp>
      <p:sp>
        <p:nvSpPr>
          <p:cNvPr id="17" name="Shape 15"/>
          <p:cNvSpPr/>
          <p:nvPr/>
        </p:nvSpPr>
        <p:spPr>
          <a:xfrm>
            <a:off x="320040" y="2569464"/>
            <a:ext cx="54864" cy="713232"/>
          </a:xfrm>
          <a:prstGeom prst="rect">
            <a:avLst/>
          </a:prstGeom>
          <a:solidFill>
            <a:srgbClr val="E8002D"/>
          </a:solidFill>
          <a:ln w="12700">
            <a:solidFill>
              <a:srgbClr val="E8002D"/>
            </a:solidFill>
            <a:prstDash val="solid"/>
          </a:ln>
        </p:spPr>
        <p:txBody>
          <a:bodyPr/>
          <a:lstStyle/>
          <a:p>
            <a:endParaRPr lang="en-US"/>
          </a:p>
        </p:txBody>
      </p:sp>
      <p:sp>
        <p:nvSpPr>
          <p:cNvPr id="18" name="Text 16"/>
          <p:cNvSpPr/>
          <p:nvPr/>
        </p:nvSpPr>
        <p:spPr>
          <a:xfrm>
            <a:off x="457200" y="2642616"/>
            <a:ext cx="2377440" cy="228600"/>
          </a:xfrm>
          <a:prstGeom prst="rect">
            <a:avLst/>
          </a:prstGeom>
          <a:noFill/>
          <a:ln/>
        </p:spPr>
        <p:txBody>
          <a:bodyPr wrap="square" lIns="0" tIns="0" rIns="0" bIns="0" rtlCol="0" anchor="ctr"/>
          <a:lstStyle/>
          <a:p>
            <a:pPr marL="0" indent="0">
              <a:buNone/>
            </a:pPr>
            <a:r>
              <a:rPr lang="en-US" sz="1200" b="1" dirty="0">
                <a:solidFill>
                  <a:srgbClr val="E8002D"/>
                </a:solidFill>
                <a:latin typeface="Consolas" pitchFamily="34" charset="0"/>
                <a:ea typeface="Consolas" pitchFamily="34" charset="-122"/>
                <a:cs typeface="Consolas" pitchFamily="34" charset="-120"/>
              </a:rPr>
              <a:t>constructor_avg_pos</a:t>
            </a:r>
            <a:endParaRPr lang="en-US" sz="1200" dirty="0"/>
          </a:p>
        </p:txBody>
      </p:sp>
      <p:sp>
        <p:nvSpPr>
          <p:cNvPr id="19" name="Text 17"/>
          <p:cNvSpPr/>
          <p:nvPr/>
        </p:nvSpPr>
        <p:spPr>
          <a:xfrm>
            <a:off x="457200" y="2889504"/>
            <a:ext cx="5303520" cy="292608"/>
          </a:xfrm>
          <a:prstGeom prst="rect">
            <a:avLst/>
          </a:prstGeom>
          <a:noFill/>
          <a:ln/>
        </p:spPr>
        <p:txBody>
          <a:bodyPr wrap="square" lIns="0" tIns="0" rIns="0" bIns="0" rtlCol="0" anchor="ctr"/>
          <a:lstStyle/>
          <a:p>
            <a:pPr marL="0" indent="0">
              <a:buNone/>
            </a:pPr>
            <a:r>
              <a:rPr lang="en-US" sz="1100" dirty="0">
                <a:solidFill>
                  <a:srgbClr val="C8C8C8"/>
                </a:solidFill>
                <a:latin typeface="Calibri" pitchFamily="34" charset="0"/>
                <a:ea typeface="Calibri" pitchFamily="34" charset="-122"/>
                <a:cs typeface="Calibri" pitchFamily="34" charset="-120"/>
              </a:rPr>
              <a:t>Team's average finishing position this season - a proxy for car performance.</a:t>
            </a:r>
            <a:endParaRPr lang="en-US" sz="1100" dirty="0"/>
          </a:p>
        </p:txBody>
      </p:sp>
      <p:sp>
        <p:nvSpPr>
          <p:cNvPr id="20" name="Shape 18"/>
          <p:cNvSpPr/>
          <p:nvPr/>
        </p:nvSpPr>
        <p:spPr>
          <a:xfrm>
            <a:off x="6035040" y="2697480"/>
            <a:ext cx="2651760" cy="420624"/>
          </a:xfrm>
          <a:prstGeom prst="rect">
            <a:avLst/>
          </a:prstGeom>
          <a:solidFill>
            <a:srgbClr val="1A1A2E"/>
          </a:solidFill>
          <a:ln w="12700">
            <a:solidFill>
              <a:srgbClr val="383858"/>
            </a:solidFill>
            <a:prstDash val="solid"/>
          </a:ln>
        </p:spPr>
        <p:txBody>
          <a:bodyPr/>
          <a:lstStyle/>
          <a:p>
            <a:endParaRPr lang="en-US"/>
          </a:p>
        </p:txBody>
      </p:sp>
      <p:sp>
        <p:nvSpPr>
          <p:cNvPr id="21" name="Text 19"/>
          <p:cNvSpPr/>
          <p:nvPr/>
        </p:nvSpPr>
        <p:spPr>
          <a:xfrm>
            <a:off x="6080760" y="2697480"/>
            <a:ext cx="2606040" cy="420624"/>
          </a:xfrm>
          <a:prstGeom prst="rect">
            <a:avLst/>
          </a:prstGeom>
          <a:noFill/>
          <a:ln/>
        </p:spPr>
        <p:txBody>
          <a:bodyPr wrap="square" lIns="50800" tIns="50800" rIns="50800" bIns="50800" rtlCol="0" anchor="ctr"/>
          <a:lstStyle/>
          <a:p>
            <a:pPr marL="0" indent="0">
              <a:buNone/>
            </a:pPr>
            <a:r>
              <a:rPr lang="en-US" sz="950" dirty="0">
                <a:solidFill>
                  <a:srgbClr val="8888AA"/>
                </a:solidFill>
                <a:latin typeface="Calibri" pitchFamily="34" charset="0"/>
                <a:ea typeface="Calibri" pitchFamily="34" charset="-122"/>
                <a:cs typeface="Calibri" pitchFamily="34" charset="-120"/>
              </a:rPr>
              <a:t>Engineered — rolling season average</a:t>
            </a:r>
            <a:endParaRPr lang="en-US" sz="950" dirty="0"/>
          </a:p>
        </p:txBody>
      </p:sp>
      <p:sp>
        <p:nvSpPr>
          <p:cNvPr id="22" name="Shape 20"/>
          <p:cNvSpPr/>
          <p:nvPr/>
        </p:nvSpPr>
        <p:spPr>
          <a:xfrm>
            <a:off x="320040" y="3374136"/>
            <a:ext cx="8503920" cy="713232"/>
          </a:xfrm>
          <a:prstGeom prst="rect">
            <a:avLst/>
          </a:prstGeom>
          <a:solidFill>
            <a:srgbClr val="252535"/>
          </a:solidFill>
          <a:ln w="12700">
            <a:solidFill>
              <a:srgbClr val="383858"/>
            </a:solidFill>
            <a:prstDash val="solid"/>
          </a:ln>
        </p:spPr>
        <p:txBody>
          <a:bodyPr/>
          <a:lstStyle/>
          <a:p>
            <a:endParaRPr lang="en-US"/>
          </a:p>
        </p:txBody>
      </p:sp>
      <p:sp>
        <p:nvSpPr>
          <p:cNvPr id="23" name="Shape 21"/>
          <p:cNvSpPr/>
          <p:nvPr/>
        </p:nvSpPr>
        <p:spPr>
          <a:xfrm>
            <a:off x="320040" y="3374136"/>
            <a:ext cx="54864" cy="713232"/>
          </a:xfrm>
          <a:prstGeom prst="rect">
            <a:avLst/>
          </a:prstGeom>
          <a:solidFill>
            <a:srgbClr val="E8002D"/>
          </a:solidFill>
          <a:ln w="12700">
            <a:solidFill>
              <a:srgbClr val="E8002D"/>
            </a:solidFill>
            <a:prstDash val="solid"/>
          </a:ln>
        </p:spPr>
        <p:txBody>
          <a:bodyPr/>
          <a:lstStyle/>
          <a:p>
            <a:endParaRPr lang="en-US"/>
          </a:p>
        </p:txBody>
      </p:sp>
      <p:sp>
        <p:nvSpPr>
          <p:cNvPr id="24" name="Text 22"/>
          <p:cNvSpPr/>
          <p:nvPr/>
        </p:nvSpPr>
        <p:spPr>
          <a:xfrm>
            <a:off x="457200" y="3447288"/>
            <a:ext cx="2377440" cy="228600"/>
          </a:xfrm>
          <a:prstGeom prst="rect">
            <a:avLst/>
          </a:prstGeom>
          <a:noFill/>
          <a:ln/>
        </p:spPr>
        <p:txBody>
          <a:bodyPr wrap="square" lIns="0" tIns="0" rIns="0" bIns="0" rtlCol="0" anchor="ctr"/>
          <a:lstStyle/>
          <a:p>
            <a:pPr marL="0" indent="0">
              <a:buNone/>
            </a:pPr>
            <a:r>
              <a:rPr lang="en-US" sz="1200" b="1" dirty="0">
                <a:solidFill>
                  <a:srgbClr val="E8002D"/>
                </a:solidFill>
                <a:latin typeface="Consolas" pitchFamily="34" charset="0"/>
                <a:ea typeface="Consolas" pitchFamily="34" charset="-122"/>
                <a:cs typeface="Consolas" pitchFamily="34" charset="-120"/>
              </a:rPr>
              <a:t>is_top3_grid</a:t>
            </a:r>
            <a:endParaRPr lang="en-US" sz="1200" dirty="0"/>
          </a:p>
        </p:txBody>
      </p:sp>
      <p:sp>
        <p:nvSpPr>
          <p:cNvPr id="25" name="Text 23"/>
          <p:cNvSpPr/>
          <p:nvPr/>
        </p:nvSpPr>
        <p:spPr>
          <a:xfrm>
            <a:off x="457200" y="3694176"/>
            <a:ext cx="5303520" cy="292608"/>
          </a:xfrm>
          <a:prstGeom prst="rect">
            <a:avLst/>
          </a:prstGeom>
          <a:noFill/>
          <a:ln/>
        </p:spPr>
        <p:txBody>
          <a:bodyPr wrap="square" lIns="0" tIns="0" rIns="0" bIns="0" rtlCol="0" anchor="ctr"/>
          <a:lstStyle/>
          <a:p>
            <a:r>
              <a:rPr lang="en-US" sz="1100" dirty="0">
                <a:solidFill>
                  <a:srgbClr val="C8C8C8"/>
                </a:solidFill>
                <a:latin typeface="Calibri" pitchFamily="34" charset="0"/>
                <a:ea typeface="Calibri" pitchFamily="34" charset="-122"/>
                <a:cs typeface="Calibri" pitchFamily="34" charset="-120"/>
              </a:rPr>
              <a:t>Binary flag — whether the driver started P1, P2 or P3. Captures the pole position advantage non-linearly.</a:t>
            </a:r>
            <a:endParaRPr lang="en-US" sz="1100" dirty="0"/>
          </a:p>
        </p:txBody>
      </p:sp>
      <p:sp>
        <p:nvSpPr>
          <p:cNvPr id="26" name="Shape 24"/>
          <p:cNvSpPr/>
          <p:nvPr/>
        </p:nvSpPr>
        <p:spPr>
          <a:xfrm>
            <a:off x="6035040" y="3502152"/>
            <a:ext cx="2651760" cy="420624"/>
          </a:xfrm>
          <a:prstGeom prst="rect">
            <a:avLst/>
          </a:prstGeom>
          <a:solidFill>
            <a:srgbClr val="1A1A2E"/>
          </a:solidFill>
          <a:ln w="12700">
            <a:solidFill>
              <a:srgbClr val="383858"/>
            </a:solidFill>
            <a:prstDash val="solid"/>
          </a:ln>
        </p:spPr>
        <p:txBody>
          <a:bodyPr/>
          <a:lstStyle/>
          <a:p>
            <a:endParaRPr lang="en-US"/>
          </a:p>
        </p:txBody>
      </p:sp>
      <p:sp>
        <p:nvSpPr>
          <p:cNvPr id="27" name="Text 25"/>
          <p:cNvSpPr/>
          <p:nvPr/>
        </p:nvSpPr>
        <p:spPr>
          <a:xfrm>
            <a:off x="6080760" y="3502152"/>
            <a:ext cx="2606040" cy="420624"/>
          </a:xfrm>
          <a:prstGeom prst="rect">
            <a:avLst/>
          </a:prstGeom>
          <a:noFill/>
          <a:ln/>
        </p:spPr>
        <p:txBody>
          <a:bodyPr wrap="square" lIns="50800" tIns="50800" rIns="50800" bIns="50800" rtlCol="0" anchor="ctr"/>
          <a:lstStyle/>
          <a:p>
            <a:pPr marL="0" indent="0">
              <a:buNone/>
            </a:pPr>
            <a:r>
              <a:rPr lang="en-US" sz="950" dirty="0">
                <a:solidFill>
                  <a:srgbClr val="8888AA"/>
                </a:solidFill>
                <a:latin typeface="Calibri" pitchFamily="34" charset="0"/>
                <a:ea typeface="Calibri" pitchFamily="34" charset="-122"/>
                <a:cs typeface="Calibri" pitchFamily="34" charset="-120"/>
              </a:rPr>
              <a:t>Engineered — derived from grid_position</a:t>
            </a:r>
            <a:endParaRPr lang="en-US" sz="950" dirty="0"/>
          </a:p>
        </p:txBody>
      </p:sp>
      <p:sp>
        <p:nvSpPr>
          <p:cNvPr id="28" name="Shape 26"/>
          <p:cNvSpPr/>
          <p:nvPr/>
        </p:nvSpPr>
        <p:spPr>
          <a:xfrm>
            <a:off x="320040" y="4178808"/>
            <a:ext cx="8503920" cy="713232"/>
          </a:xfrm>
          <a:prstGeom prst="rect">
            <a:avLst/>
          </a:prstGeom>
          <a:solidFill>
            <a:srgbClr val="252535"/>
          </a:solidFill>
          <a:ln w="12700">
            <a:solidFill>
              <a:srgbClr val="383858"/>
            </a:solidFill>
            <a:prstDash val="solid"/>
          </a:ln>
        </p:spPr>
        <p:txBody>
          <a:bodyPr/>
          <a:lstStyle/>
          <a:p>
            <a:endParaRPr lang="en-US"/>
          </a:p>
        </p:txBody>
      </p:sp>
      <p:sp>
        <p:nvSpPr>
          <p:cNvPr id="29" name="Shape 27"/>
          <p:cNvSpPr/>
          <p:nvPr/>
        </p:nvSpPr>
        <p:spPr>
          <a:xfrm>
            <a:off x="320040" y="4178808"/>
            <a:ext cx="54864" cy="713232"/>
          </a:xfrm>
          <a:prstGeom prst="rect">
            <a:avLst/>
          </a:prstGeom>
          <a:solidFill>
            <a:srgbClr val="E8002D"/>
          </a:solidFill>
          <a:ln w="12700">
            <a:solidFill>
              <a:srgbClr val="E8002D"/>
            </a:solidFill>
            <a:prstDash val="solid"/>
          </a:ln>
        </p:spPr>
        <p:txBody>
          <a:bodyPr/>
          <a:lstStyle/>
          <a:p>
            <a:endParaRPr lang="en-US"/>
          </a:p>
        </p:txBody>
      </p:sp>
      <p:sp>
        <p:nvSpPr>
          <p:cNvPr id="30" name="Text 28"/>
          <p:cNvSpPr/>
          <p:nvPr/>
        </p:nvSpPr>
        <p:spPr>
          <a:xfrm>
            <a:off x="457200" y="4251960"/>
            <a:ext cx="2377440" cy="228600"/>
          </a:xfrm>
          <a:prstGeom prst="rect">
            <a:avLst/>
          </a:prstGeom>
          <a:noFill/>
          <a:ln/>
        </p:spPr>
        <p:txBody>
          <a:bodyPr wrap="square" lIns="0" tIns="0" rIns="0" bIns="0" rtlCol="0" anchor="ctr"/>
          <a:lstStyle/>
          <a:p>
            <a:pPr marL="0" indent="0">
              <a:buNone/>
            </a:pPr>
            <a:r>
              <a:rPr lang="en-US" sz="1200" b="1" dirty="0">
                <a:solidFill>
                  <a:srgbClr val="E8002D"/>
                </a:solidFill>
                <a:latin typeface="Consolas" pitchFamily="34" charset="0"/>
                <a:ea typeface="Consolas" pitchFamily="34" charset="-122"/>
                <a:cs typeface="Consolas" pitchFamily="34" charset="-120"/>
              </a:rPr>
              <a:t>constructor_podium_rate</a:t>
            </a:r>
            <a:endParaRPr lang="en-US" sz="1200" dirty="0"/>
          </a:p>
        </p:txBody>
      </p:sp>
      <p:sp>
        <p:nvSpPr>
          <p:cNvPr id="31" name="Text 29"/>
          <p:cNvSpPr/>
          <p:nvPr/>
        </p:nvSpPr>
        <p:spPr>
          <a:xfrm>
            <a:off x="457200" y="4498848"/>
            <a:ext cx="5303520" cy="292608"/>
          </a:xfrm>
          <a:prstGeom prst="rect">
            <a:avLst/>
          </a:prstGeom>
          <a:noFill/>
          <a:ln/>
        </p:spPr>
        <p:txBody>
          <a:bodyPr wrap="square" lIns="0" tIns="0" rIns="0" bIns="0" rtlCol="0" anchor="ctr"/>
          <a:lstStyle/>
          <a:p>
            <a:pPr marL="0" indent="0">
              <a:buNone/>
            </a:pPr>
            <a:r>
              <a:rPr lang="en-US" sz="1100" dirty="0">
                <a:solidFill>
                  <a:srgbClr val="C8C8C8"/>
                </a:solidFill>
                <a:latin typeface="Calibri" pitchFamily="34" charset="0"/>
                <a:ea typeface="Calibri" pitchFamily="34" charset="-122"/>
                <a:cs typeface="Calibri" pitchFamily="34" charset="-120"/>
              </a:rPr>
              <a:t>Team's historical podium rate across all seasons. Encodes long-term constructor strength.</a:t>
            </a:r>
            <a:endParaRPr lang="en-US" sz="1100" dirty="0"/>
          </a:p>
        </p:txBody>
      </p:sp>
      <p:sp>
        <p:nvSpPr>
          <p:cNvPr id="32" name="Shape 30"/>
          <p:cNvSpPr/>
          <p:nvPr/>
        </p:nvSpPr>
        <p:spPr>
          <a:xfrm>
            <a:off x="6035040" y="4306824"/>
            <a:ext cx="2651760" cy="420624"/>
          </a:xfrm>
          <a:prstGeom prst="rect">
            <a:avLst/>
          </a:prstGeom>
          <a:solidFill>
            <a:srgbClr val="1A1A2E"/>
          </a:solidFill>
          <a:ln w="12700">
            <a:solidFill>
              <a:srgbClr val="383858"/>
            </a:solidFill>
            <a:prstDash val="solid"/>
          </a:ln>
        </p:spPr>
        <p:txBody>
          <a:bodyPr/>
          <a:lstStyle/>
          <a:p>
            <a:endParaRPr lang="en-US"/>
          </a:p>
        </p:txBody>
      </p:sp>
      <p:sp>
        <p:nvSpPr>
          <p:cNvPr id="33" name="Text 31"/>
          <p:cNvSpPr/>
          <p:nvPr/>
        </p:nvSpPr>
        <p:spPr>
          <a:xfrm>
            <a:off x="6080760" y="4306824"/>
            <a:ext cx="2606040" cy="420624"/>
          </a:xfrm>
          <a:prstGeom prst="rect">
            <a:avLst/>
          </a:prstGeom>
          <a:noFill/>
          <a:ln/>
        </p:spPr>
        <p:txBody>
          <a:bodyPr wrap="square" lIns="50800" tIns="50800" rIns="50800" bIns="50800" rtlCol="0" anchor="ctr"/>
          <a:lstStyle/>
          <a:p>
            <a:pPr marL="0" indent="0">
              <a:buNone/>
            </a:pPr>
            <a:r>
              <a:rPr lang="en-US" sz="950" dirty="0">
                <a:solidFill>
                  <a:srgbClr val="8888AA"/>
                </a:solidFill>
                <a:latin typeface="Calibri" pitchFamily="34" charset="0"/>
                <a:ea typeface="Calibri" pitchFamily="34" charset="-122"/>
                <a:cs typeface="Calibri" pitchFamily="34" charset="-120"/>
              </a:rPr>
              <a:t>Engineered — mean encoding</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151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002D"/>
          </a:solidFill>
          <a:ln w="12700">
            <a:solidFill>
              <a:srgbClr val="E8002D"/>
            </a:solidFill>
            <a:prstDash val="solid"/>
          </a:ln>
        </p:spPr>
        <p:txBody>
          <a:bodyPr/>
          <a:lstStyle/>
          <a:p>
            <a:endParaRPr lang="en-US"/>
          </a:p>
        </p:txBody>
      </p:sp>
      <p:sp>
        <p:nvSpPr>
          <p:cNvPr id="3" name="Text 1"/>
          <p:cNvSpPr/>
          <p:nvPr/>
        </p:nvSpPr>
        <p:spPr>
          <a:xfrm>
            <a:off x="365760" y="256032"/>
            <a:ext cx="8503920" cy="502920"/>
          </a:xfrm>
          <a:prstGeom prst="rect">
            <a:avLst/>
          </a:prstGeom>
          <a:noFill/>
          <a:ln/>
        </p:spPr>
        <p:txBody>
          <a:bodyPr wrap="square" lIns="0" tIns="0" rIns="0" bIns="0"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Models Used</a:t>
            </a:r>
            <a:endParaRPr lang="en-US" sz="2800" dirty="0"/>
          </a:p>
        </p:txBody>
      </p:sp>
      <p:sp>
        <p:nvSpPr>
          <p:cNvPr id="4" name="Shape 2"/>
          <p:cNvSpPr/>
          <p:nvPr/>
        </p:nvSpPr>
        <p:spPr>
          <a:xfrm>
            <a:off x="274320" y="960120"/>
            <a:ext cx="2743200" cy="3840480"/>
          </a:xfrm>
          <a:prstGeom prst="rect">
            <a:avLst/>
          </a:prstGeom>
          <a:solidFill>
            <a:srgbClr val="252535"/>
          </a:solidFill>
          <a:ln w="12700">
            <a:solidFill>
              <a:srgbClr val="383858"/>
            </a:solidFill>
            <a:prstDash val="solid"/>
          </a:ln>
        </p:spPr>
        <p:txBody>
          <a:bodyPr/>
          <a:lstStyle/>
          <a:p>
            <a:endParaRPr lang="en-US"/>
          </a:p>
        </p:txBody>
      </p:sp>
      <p:sp>
        <p:nvSpPr>
          <p:cNvPr id="5" name="Shape 3"/>
          <p:cNvSpPr/>
          <p:nvPr/>
        </p:nvSpPr>
        <p:spPr>
          <a:xfrm>
            <a:off x="274320" y="960120"/>
            <a:ext cx="2743200" cy="54864"/>
          </a:xfrm>
          <a:prstGeom prst="rect">
            <a:avLst/>
          </a:prstGeom>
          <a:solidFill>
            <a:srgbClr val="4A9EFF"/>
          </a:solidFill>
          <a:ln w="12700">
            <a:solidFill>
              <a:srgbClr val="4A9EFF"/>
            </a:solidFill>
            <a:prstDash val="solid"/>
          </a:ln>
        </p:spPr>
        <p:txBody>
          <a:bodyPr/>
          <a:lstStyle/>
          <a:p>
            <a:endParaRPr lang="en-US"/>
          </a:p>
        </p:txBody>
      </p:sp>
      <p:sp>
        <p:nvSpPr>
          <p:cNvPr id="6" name="Text 4"/>
          <p:cNvSpPr/>
          <p:nvPr/>
        </p:nvSpPr>
        <p:spPr>
          <a:xfrm>
            <a:off x="438912" y="1124712"/>
            <a:ext cx="2468880" cy="411480"/>
          </a:xfrm>
          <a:prstGeom prst="rect">
            <a:avLst/>
          </a:prstGeom>
          <a:noFill/>
          <a:ln/>
        </p:spPr>
        <p:txBody>
          <a:bodyPr wrap="square" lIns="0" tIns="0" rIns="0" bIns="0" rtlCol="0" anchor="ctr"/>
          <a:lstStyle/>
          <a:p>
            <a:pPr marL="0" indent="0">
              <a:buNone/>
            </a:pPr>
            <a:r>
              <a:rPr lang="en-US" sz="1500" b="1" dirty="0">
                <a:solidFill>
                  <a:srgbClr val="4A9EFF"/>
                </a:solidFill>
                <a:latin typeface="Arial Black" pitchFamily="34" charset="0"/>
                <a:ea typeface="Arial Black" pitchFamily="34" charset="-122"/>
                <a:cs typeface="Arial Black" pitchFamily="34" charset="-120"/>
              </a:rPr>
              <a:t>Logistic Regression</a:t>
            </a:r>
            <a:endParaRPr lang="en-US" sz="1500" dirty="0"/>
          </a:p>
        </p:txBody>
      </p:sp>
      <p:sp>
        <p:nvSpPr>
          <p:cNvPr id="7" name="Text 5"/>
          <p:cNvSpPr/>
          <p:nvPr/>
        </p:nvSpPr>
        <p:spPr>
          <a:xfrm>
            <a:off x="438912" y="1527048"/>
            <a:ext cx="2468880" cy="256032"/>
          </a:xfrm>
          <a:prstGeom prst="rect">
            <a:avLst/>
          </a:prstGeom>
          <a:noFill/>
          <a:ln/>
        </p:spPr>
        <p:txBody>
          <a:bodyPr wrap="square" lIns="0" tIns="0" rIns="0" bIns="0" rtlCol="0" anchor="ctr"/>
          <a:lstStyle/>
          <a:p>
            <a:pPr marL="0" indent="0">
              <a:buNone/>
            </a:pPr>
            <a:r>
              <a:rPr lang="en-US" sz="1100" i="1" dirty="0">
                <a:solidFill>
                  <a:srgbClr val="8888AA"/>
                </a:solidFill>
                <a:latin typeface="Calibri" pitchFamily="34" charset="0"/>
                <a:ea typeface="Calibri" pitchFamily="34" charset="-122"/>
                <a:cs typeface="Calibri" pitchFamily="34" charset="-120"/>
              </a:rPr>
              <a:t>Linear baseline</a:t>
            </a:r>
            <a:endParaRPr lang="en-US" sz="1100" dirty="0"/>
          </a:p>
        </p:txBody>
      </p:sp>
      <p:sp>
        <p:nvSpPr>
          <p:cNvPr id="8" name="Shape 6"/>
          <p:cNvSpPr/>
          <p:nvPr/>
        </p:nvSpPr>
        <p:spPr>
          <a:xfrm>
            <a:off x="438912" y="1837944"/>
            <a:ext cx="2414016" cy="0"/>
          </a:xfrm>
          <a:prstGeom prst="line">
            <a:avLst/>
          </a:prstGeom>
          <a:noFill/>
          <a:ln w="6350">
            <a:solidFill>
              <a:srgbClr val="383858"/>
            </a:solidFill>
            <a:prstDash val="solid"/>
          </a:ln>
        </p:spPr>
        <p:txBody>
          <a:bodyPr/>
          <a:lstStyle/>
          <a:p>
            <a:endParaRPr lang="en-US"/>
          </a:p>
        </p:txBody>
      </p:sp>
      <p:sp>
        <p:nvSpPr>
          <p:cNvPr id="9" name="Text 7"/>
          <p:cNvSpPr/>
          <p:nvPr/>
        </p:nvSpPr>
        <p:spPr>
          <a:xfrm>
            <a:off x="384048" y="1965960"/>
            <a:ext cx="2505456" cy="685800"/>
          </a:xfrm>
          <a:prstGeom prst="rect">
            <a:avLst/>
          </a:prstGeom>
          <a:noFill/>
          <a:ln/>
        </p:spPr>
        <p:txBody>
          <a:bodyPr wrap="square" lIns="50800" tIns="50800" rIns="50800" bIns="50800" rtlCol="0" anchor="t"/>
          <a:lstStyle/>
          <a:p>
            <a:pPr marL="342900" indent="-342900">
              <a:buSzPct val="100000"/>
              <a:buChar char="•"/>
            </a:pPr>
            <a:r>
              <a:rPr lang="en-US" sz="1100" dirty="0">
                <a:solidFill>
                  <a:srgbClr val="C8C8C8"/>
                </a:solidFill>
                <a:latin typeface="Calibri" pitchFamily="34" charset="0"/>
                <a:ea typeface="Calibri" pitchFamily="34" charset="-122"/>
                <a:cs typeface="Calibri" pitchFamily="34" charset="-120"/>
              </a:rPr>
              <a:t>Models podium probability as a sigmoid function of the features — draws a linear decision boundary in feature space</a:t>
            </a:r>
            <a:endParaRPr lang="en-US" sz="1100" dirty="0"/>
          </a:p>
        </p:txBody>
      </p:sp>
      <p:sp>
        <p:nvSpPr>
          <p:cNvPr id="10" name="Text 8"/>
          <p:cNvSpPr/>
          <p:nvPr/>
        </p:nvSpPr>
        <p:spPr>
          <a:xfrm>
            <a:off x="384048" y="2743200"/>
            <a:ext cx="2505456" cy="685800"/>
          </a:xfrm>
          <a:prstGeom prst="rect">
            <a:avLst/>
          </a:prstGeom>
          <a:noFill/>
          <a:ln/>
        </p:spPr>
        <p:txBody>
          <a:bodyPr wrap="square" lIns="50800" tIns="50800" rIns="50800" bIns="50800" rtlCol="0" anchor="t"/>
          <a:lstStyle/>
          <a:p>
            <a:pPr marL="342900" indent="-342900">
              <a:buSzPct val="100000"/>
              <a:buChar char="•"/>
            </a:pPr>
            <a:r>
              <a:rPr lang="en-US" sz="1100" dirty="0">
                <a:solidFill>
                  <a:srgbClr val="C8C8C8"/>
                </a:solidFill>
                <a:latin typeface="Calibri" pitchFamily="34" charset="0"/>
                <a:ea typeface="Calibri" pitchFamily="34" charset="-122"/>
                <a:cs typeface="Calibri" pitchFamily="34" charset="-120"/>
              </a:rPr>
              <a:t>Each learned coefficient shows a feature's direction and magnitude of effect on the log-odds</a:t>
            </a:r>
            <a:endParaRPr lang="en-US" sz="1100" dirty="0"/>
          </a:p>
        </p:txBody>
      </p:sp>
      <p:sp>
        <p:nvSpPr>
          <p:cNvPr id="11" name="Text 9"/>
          <p:cNvSpPr/>
          <p:nvPr/>
        </p:nvSpPr>
        <p:spPr>
          <a:xfrm>
            <a:off x="384048" y="3520440"/>
            <a:ext cx="2505456" cy="685800"/>
          </a:xfrm>
          <a:prstGeom prst="rect">
            <a:avLst/>
          </a:prstGeom>
          <a:noFill/>
          <a:ln/>
        </p:spPr>
        <p:txBody>
          <a:bodyPr wrap="square" lIns="50800" tIns="50800" rIns="50800" bIns="50800" rtlCol="0" anchor="t"/>
          <a:lstStyle/>
          <a:p>
            <a:pPr marL="342900" indent="-342900">
              <a:buSzPct val="100000"/>
              <a:buChar char="•"/>
            </a:pPr>
            <a:r>
              <a:rPr lang="en-US" sz="1100" dirty="0">
                <a:solidFill>
                  <a:srgbClr val="C8C8C8"/>
                </a:solidFill>
                <a:latin typeface="Calibri" pitchFamily="34" charset="0"/>
                <a:ea typeface="Calibri" pitchFamily="34" charset="-122"/>
                <a:cs typeface="Calibri" pitchFamily="34" charset="-120"/>
              </a:rPr>
              <a:t>Used as a linear baseline</a:t>
            </a:r>
          </a:p>
          <a:p>
            <a:pPr marL="800100" lvl="1" indent="-342900">
              <a:buSzPct val="100000"/>
              <a:buChar char="•"/>
            </a:pPr>
            <a:r>
              <a:rPr lang="en-US" sz="1100" dirty="0">
                <a:solidFill>
                  <a:srgbClr val="C8C8C8"/>
                </a:solidFill>
                <a:latin typeface="Calibri" pitchFamily="34" charset="0"/>
                <a:ea typeface="Calibri" pitchFamily="34" charset="-122"/>
                <a:cs typeface="Calibri" pitchFamily="34" charset="-120"/>
              </a:rPr>
              <a:t>if a more complex model can't beat it, the added complexity isn't justified</a:t>
            </a:r>
            <a:endParaRPr lang="en-US" sz="1100" dirty="0"/>
          </a:p>
        </p:txBody>
      </p:sp>
      <p:sp>
        <p:nvSpPr>
          <p:cNvPr id="12" name="Shape 10"/>
          <p:cNvSpPr/>
          <p:nvPr/>
        </p:nvSpPr>
        <p:spPr>
          <a:xfrm>
            <a:off x="3200400" y="960120"/>
            <a:ext cx="2743200" cy="3840480"/>
          </a:xfrm>
          <a:prstGeom prst="rect">
            <a:avLst/>
          </a:prstGeom>
          <a:solidFill>
            <a:srgbClr val="252535"/>
          </a:solidFill>
          <a:ln w="12700">
            <a:solidFill>
              <a:srgbClr val="383858"/>
            </a:solidFill>
            <a:prstDash val="solid"/>
          </a:ln>
        </p:spPr>
        <p:txBody>
          <a:bodyPr/>
          <a:lstStyle/>
          <a:p>
            <a:endParaRPr lang="en-US" dirty="0"/>
          </a:p>
        </p:txBody>
      </p:sp>
      <p:sp>
        <p:nvSpPr>
          <p:cNvPr id="13" name="Shape 11"/>
          <p:cNvSpPr/>
          <p:nvPr/>
        </p:nvSpPr>
        <p:spPr>
          <a:xfrm>
            <a:off x="3200400" y="960120"/>
            <a:ext cx="2743200" cy="54864"/>
          </a:xfrm>
          <a:prstGeom prst="rect">
            <a:avLst/>
          </a:prstGeom>
          <a:solidFill>
            <a:srgbClr val="E8002D"/>
          </a:solidFill>
          <a:ln w="12700">
            <a:solidFill>
              <a:srgbClr val="E8002D"/>
            </a:solidFill>
            <a:prstDash val="solid"/>
          </a:ln>
        </p:spPr>
        <p:txBody>
          <a:bodyPr/>
          <a:lstStyle/>
          <a:p>
            <a:endParaRPr lang="en-US"/>
          </a:p>
        </p:txBody>
      </p:sp>
      <p:sp>
        <p:nvSpPr>
          <p:cNvPr id="14" name="Text 12"/>
          <p:cNvSpPr/>
          <p:nvPr/>
        </p:nvSpPr>
        <p:spPr>
          <a:xfrm>
            <a:off x="3364992" y="1124712"/>
            <a:ext cx="2468880" cy="411480"/>
          </a:xfrm>
          <a:prstGeom prst="rect">
            <a:avLst/>
          </a:prstGeom>
          <a:noFill/>
          <a:ln/>
        </p:spPr>
        <p:txBody>
          <a:bodyPr wrap="square" lIns="0" tIns="0" rIns="0" bIns="0" rtlCol="0" anchor="ctr"/>
          <a:lstStyle/>
          <a:p>
            <a:pPr marL="0" indent="0">
              <a:buNone/>
            </a:pPr>
            <a:r>
              <a:rPr lang="en-US" sz="1500" b="1" dirty="0">
                <a:solidFill>
                  <a:srgbClr val="E8002D"/>
                </a:solidFill>
                <a:latin typeface="Arial Black" pitchFamily="34" charset="0"/>
                <a:ea typeface="Arial Black" pitchFamily="34" charset="-122"/>
                <a:cs typeface="Arial Black" pitchFamily="34" charset="-120"/>
              </a:rPr>
              <a:t>Decision Tree</a:t>
            </a:r>
            <a:endParaRPr lang="en-US" sz="1500" dirty="0"/>
          </a:p>
        </p:txBody>
      </p:sp>
      <p:sp>
        <p:nvSpPr>
          <p:cNvPr id="15" name="Text 13"/>
          <p:cNvSpPr/>
          <p:nvPr/>
        </p:nvSpPr>
        <p:spPr>
          <a:xfrm>
            <a:off x="3364992" y="1527048"/>
            <a:ext cx="2468880" cy="256032"/>
          </a:xfrm>
          <a:prstGeom prst="rect">
            <a:avLst/>
          </a:prstGeom>
          <a:noFill/>
          <a:ln/>
        </p:spPr>
        <p:txBody>
          <a:bodyPr wrap="square" lIns="0" tIns="0" rIns="0" bIns="0" rtlCol="0" anchor="ctr"/>
          <a:lstStyle/>
          <a:p>
            <a:pPr marL="0" indent="0">
              <a:buNone/>
            </a:pPr>
            <a:r>
              <a:rPr lang="en-US" sz="1100" i="1" dirty="0">
                <a:solidFill>
                  <a:srgbClr val="8888AA"/>
                </a:solidFill>
                <a:latin typeface="Calibri" pitchFamily="34" charset="0"/>
                <a:ea typeface="Calibri" pitchFamily="34" charset="-122"/>
                <a:cs typeface="Calibri" pitchFamily="34" charset="-120"/>
              </a:rPr>
              <a:t>Main interpretable model</a:t>
            </a:r>
            <a:endParaRPr lang="en-US" sz="1100" dirty="0"/>
          </a:p>
        </p:txBody>
      </p:sp>
      <p:sp>
        <p:nvSpPr>
          <p:cNvPr id="16" name="Shape 14"/>
          <p:cNvSpPr/>
          <p:nvPr/>
        </p:nvSpPr>
        <p:spPr>
          <a:xfrm>
            <a:off x="3364992" y="1837944"/>
            <a:ext cx="2414016" cy="0"/>
          </a:xfrm>
          <a:prstGeom prst="line">
            <a:avLst/>
          </a:prstGeom>
          <a:noFill/>
          <a:ln w="6350">
            <a:solidFill>
              <a:srgbClr val="383858"/>
            </a:solidFill>
            <a:prstDash val="solid"/>
          </a:ln>
        </p:spPr>
        <p:txBody>
          <a:bodyPr/>
          <a:lstStyle/>
          <a:p>
            <a:endParaRPr lang="en-US"/>
          </a:p>
        </p:txBody>
      </p:sp>
      <p:sp>
        <p:nvSpPr>
          <p:cNvPr id="17" name="Text 15"/>
          <p:cNvSpPr/>
          <p:nvPr/>
        </p:nvSpPr>
        <p:spPr>
          <a:xfrm>
            <a:off x="3310128" y="1965960"/>
            <a:ext cx="2505456" cy="685800"/>
          </a:xfrm>
          <a:prstGeom prst="rect">
            <a:avLst/>
          </a:prstGeom>
          <a:noFill/>
          <a:ln/>
        </p:spPr>
        <p:txBody>
          <a:bodyPr wrap="square" lIns="50800" tIns="50800" rIns="50800" bIns="50800" rtlCol="0" anchor="t"/>
          <a:lstStyle/>
          <a:p>
            <a:pPr marL="342900" indent="-342900">
              <a:buSzPct val="100000"/>
              <a:buChar char="•"/>
            </a:pPr>
            <a:r>
              <a:rPr lang="en-US" sz="1100" dirty="0">
                <a:solidFill>
                  <a:srgbClr val="C8C8C8"/>
                </a:solidFill>
                <a:latin typeface="Calibri" pitchFamily="34" charset="0"/>
                <a:ea typeface="Calibri" pitchFamily="34" charset="-122"/>
                <a:cs typeface="Calibri" pitchFamily="34" charset="-120"/>
              </a:rPr>
              <a:t>Splits on the feature and threshold that best separates podium from non-podium at each node, using Gini impurity</a:t>
            </a:r>
            <a:endParaRPr lang="en-US" sz="1100" dirty="0"/>
          </a:p>
        </p:txBody>
      </p:sp>
      <p:sp>
        <p:nvSpPr>
          <p:cNvPr id="18" name="Text 16"/>
          <p:cNvSpPr/>
          <p:nvPr/>
        </p:nvSpPr>
        <p:spPr>
          <a:xfrm>
            <a:off x="3310128" y="2743200"/>
            <a:ext cx="2505456" cy="685800"/>
          </a:xfrm>
          <a:prstGeom prst="rect">
            <a:avLst/>
          </a:prstGeom>
          <a:noFill/>
          <a:ln/>
        </p:spPr>
        <p:txBody>
          <a:bodyPr wrap="square" lIns="50800" tIns="50800" rIns="50800" bIns="50800" rtlCol="0" anchor="t"/>
          <a:lstStyle/>
          <a:p>
            <a:pPr marL="342900" indent="-342900">
              <a:buSzPct val="100000"/>
              <a:buChar char="•"/>
            </a:pPr>
            <a:r>
              <a:rPr lang="en-US" sz="1100" dirty="0" err="1">
                <a:solidFill>
                  <a:srgbClr val="C8C8C8"/>
                </a:solidFill>
                <a:latin typeface="Calibri" pitchFamily="34" charset="0"/>
                <a:ea typeface="Calibri" pitchFamily="34" charset="-122"/>
                <a:cs typeface="Calibri" pitchFamily="34" charset="-120"/>
              </a:rPr>
              <a:t>max_depth</a:t>
            </a:r>
            <a:r>
              <a:rPr lang="en-US" sz="1100" dirty="0">
                <a:solidFill>
                  <a:srgbClr val="C8C8C8"/>
                </a:solidFill>
                <a:latin typeface="Calibri" pitchFamily="34" charset="0"/>
                <a:ea typeface="Calibri" pitchFamily="34" charset="-122"/>
                <a:cs typeface="Calibri" pitchFamily="34" charset="-120"/>
              </a:rPr>
              <a:t>=4 and </a:t>
            </a:r>
            <a:r>
              <a:rPr lang="en-US" sz="1100" dirty="0" err="1">
                <a:solidFill>
                  <a:srgbClr val="C8C8C8"/>
                </a:solidFill>
                <a:latin typeface="Calibri" pitchFamily="34" charset="0"/>
                <a:ea typeface="Calibri" pitchFamily="34" charset="-122"/>
                <a:cs typeface="Calibri" pitchFamily="34" charset="-120"/>
              </a:rPr>
              <a:t>min_samples_leaf</a:t>
            </a:r>
            <a:r>
              <a:rPr lang="en-US" sz="1100" dirty="0">
                <a:solidFill>
                  <a:srgbClr val="C8C8C8"/>
                </a:solidFill>
                <a:latin typeface="Calibri" pitchFamily="34" charset="0"/>
                <a:ea typeface="Calibri" pitchFamily="34" charset="-122"/>
                <a:cs typeface="Calibri" pitchFamily="34" charset="-120"/>
              </a:rPr>
              <a:t>=20 keeps the tree readable and </a:t>
            </a:r>
            <a:r>
              <a:rPr lang="en-US" sz="1100" dirty="0" err="1">
                <a:solidFill>
                  <a:srgbClr val="C8C8C8"/>
                </a:solidFill>
                <a:latin typeface="Calibri" pitchFamily="34" charset="0"/>
                <a:ea typeface="Calibri" pitchFamily="34" charset="-122"/>
                <a:cs typeface="Calibri" pitchFamily="34" charset="-120"/>
              </a:rPr>
              <a:t>prevenst</a:t>
            </a:r>
            <a:r>
              <a:rPr lang="en-US" sz="1100" dirty="0">
                <a:solidFill>
                  <a:srgbClr val="C8C8C8"/>
                </a:solidFill>
                <a:latin typeface="Calibri" pitchFamily="34" charset="0"/>
                <a:ea typeface="Calibri" pitchFamily="34" charset="-122"/>
                <a:cs typeface="Calibri" pitchFamily="34" charset="-120"/>
              </a:rPr>
              <a:t> overfitting</a:t>
            </a:r>
            <a:endParaRPr lang="en-US" sz="1100" dirty="0"/>
          </a:p>
        </p:txBody>
      </p:sp>
      <p:sp>
        <p:nvSpPr>
          <p:cNvPr id="19" name="Text 17"/>
          <p:cNvSpPr/>
          <p:nvPr/>
        </p:nvSpPr>
        <p:spPr>
          <a:xfrm>
            <a:off x="3310128" y="3520440"/>
            <a:ext cx="2505456" cy="685800"/>
          </a:xfrm>
          <a:prstGeom prst="rect">
            <a:avLst/>
          </a:prstGeom>
          <a:noFill/>
          <a:ln/>
        </p:spPr>
        <p:txBody>
          <a:bodyPr wrap="square" lIns="50800" tIns="50800" rIns="50800" bIns="50800" rtlCol="0" anchor="t"/>
          <a:lstStyle/>
          <a:p>
            <a:pPr marL="342900" indent="-342900">
              <a:buSzPct val="100000"/>
              <a:buChar char="•"/>
            </a:pPr>
            <a:r>
              <a:rPr lang="en-US" sz="1100" dirty="0">
                <a:solidFill>
                  <a:srgbClr val="C8C8C8"/>
                </a:solidFill>
                <a:latin typeface="Calibri" pitchFamily="34" charset="0"/>
                <a:ea typeface="Calibri" pitchFamily="34" charset="-122"/>
                <a:cs typeface="Calibri" pitchFamily="34" charset="-120"/>
              </a:rPr>
              <a:t>Every prediction traces from root to leaf, so we can explain exactly why each driver was classified</a:t>
            </a:r>
            <a:endParaRPr lang="en-US" sz="1100" dirty="0"/>
          </a:p>
        </p:txBody>
      </p:sp>
      <p:sp>
        <p:nvSpPr>
          <p:cNvPr id="20" name="Shape 18"/>
          <p:cNvSpPr/>
          <p:nvPr/>
        </p:nvSpPr>
        <p:spPr>
          <a:xfrm>
            <a:off x="6126480" y="960120"/>
            <a:ext cx="2743200" cy="3840480"/>
          </a:xfrm>
          <a:prstGeom prst="rect">
            <a:avLst/>
          </a:prstGeom>
          <a:solidFill>
            <a:srgbClr val="252535"/>
          </a:solidFill>
          <a:ln w="12700">
            <a:solidFill>
              <a:srgbClr val="383858"/>
            </a:solidFill>
            <a:prstDash val="solid"/>
          </a:ln>
        </p:spPr>
        <p:txBody>
          <a:bodyPr/>
          <a:lstStyle/>
          <a:p>
            <a:endParaRPr lang="en-US"/>
          </a:p>
        </p:txBody>
      </p:sp>
      <p:sp>
        <p:nvSpPr>
          <p:cNvPr id="21" name="Shape 19"/>
          <p:cNvSpPr/>
          <p:nvPr/>
        </p:nvSpPr>
        <p:spPr>
          <a:xfrm>
            <a:off x="6126480" y="960120"/>
            <a:ext cx="2743200" cy="54864"/>
          </a:xfrm>
          <a:prstGeom prst="rect">
            <a:avLst/>
          </a:prstGeom>
          <a:solidFill>
            <a:srgbClr val="4ACF8A"/>
          </a:solidFill>
          <a:ln w="12700">
            <a:solidFill>
              <a:srgbClr val="4ACF8A"/>
            </a:solidFill>
            <a:prstDash val="solid"/>
          </a:ln>
        </p:spPr>
        <p:txBody>
          <a:bodyPr/>
          <a:lstStyle/>
          <a:p>
            <a:endParaRPr lang="en-US"/>
          </a:p>
        </p:txBody>
      </p:sp>
      <p:sp>
        <p:nvSpPr>
          <p:cNvPr id="22" name="Text 20"/>
          <p:cNvSpPr/>
          <p:nvPr/>
        </p:nvSpPr>
        <p:spPr>
          <a:xfrm>
            <a:off x="6291072" y="1124712"/>
            <a:ext cx="2468880" cy="411480"/>
          </a:xfrm>
          <a:prstGeom prst="rect">
            <a:avLst/>
          </a:prstGeom>
          <a:noFill/>
          <a:ln/>
        </p:spPr>
        <p:txBody>
          <a:bodyPr wrap="square" lIns="0" tIns="0" rIns="0" bIns="0" rtlCol="0" anchor="ctr"/>
          <a:lstStyle/>
          <a:p>
            <a:pPr marL="0" indent="0">
              <a:buNone/>
            </a:pPr>
            <a:r>
              <a:rPr lang="en-US" sz="1500" b="1" dirty="0">
                <a:solidFill>
                  <a:srgbClr val="4ACF8A"/>
                </a:solidFill>
                <a:latin typeface="Arial Black" pitchFamily="34" charset="0"/>
                <a:ea typeface="Arial Black" pitchFamily="34" charset="-122"/>
                <a:cs typeface="Arial Black" pitchFamily="34" charset="-120"/>
              </a:rPr>
              <a:t>Random Forest</a:t>
            </a:r>
            <a:endParaRPr lang="en-US" sz="1500" dirty="0"/>
          </a:p>
        </p:txBody>
      </p:sp>
      <p:sp>
        <p:nvSpPr>
          <p:cNvPr id="23" name="Text 21"/>
          <p:cNvSpPr/>
          <p:nvPr/>
        </p:nvSpPr>
        <p:spPr>
          <a:xfrm>
            <a:off x="6291072" y="1527048"/>
            <a:ext cx="2468880" cy="256032"/>
          </a:xfrm>
          <a:prstGeom prst="rect">
            <a:avLst/>
          </a:prstGeom>
          <a:noFill/>
          <a:ln/>
        </p:spPr>
        <p:txBody>
          <a:bodyPr wrap="square" lIns="0" tIns="0" rIns="0" bIns="0" rtlCol="0" anchor="ctr"/>
          <a:lstStyle/>
          <a:p>
            <a:pPr marL="0" indent="0">
              <a:buNone/>
            </a:pPr>
            <a:r>
              <a:rPr lang="en-US" sz="1100" i="1" dirty="0">
                <a:solidFill>
                  <a:srgbClr val="8888AA"/>
                </a:solidFill>
                <a:latin typeface="Calibri" pitchFamily="34" charset="0"/>
                <a:ea typeface="Calibri" pitchFamily="34" charset="-122"/>
                <a:cs typeface="Calibri" pitchFamily="34" charset="-120"/>
              </a:rPr>
              <a:t>Ensemble comparison</a:t>
            </a:r>
            <a:endParaRPr lang="en-US" sz="1100" dirty="0"/>
          </a:p>
        </p:txBody>
      </p:sp>
      <p:sp>
        <p:nvSpPr>
          <p:cNvPr id="24" name="Shape 22"/>
          <p:cNvSpPr/>
          <p:nvPr/>
        </p:nvSpPr>
        <p:spPr>
          <a:xfrm>
            <a:off x="6291072" y="1837944"/>
            <a:ext cx="2414016" cy="0"/>
          </a:xfrm>
          <a:prstGeom prst="line">
            <a:avLst/>
          </a:prstGeom>
          <a:noFill/>
          <a:ln w="6350">
            <a:solidFill>
              <a:srgbClr val="383858"/>
            </a:solidFill>
            <a:prstDash val="solid"/>
          </a:ln>
        </p:spPr>
        <p:txBody>
          <a:bodyPr/>
          <a:lstStyle/>
          <a:p>
            <a:endParaRPr lang="en-US"/>
          </a:p>
        </p:txBody>
      </p:sp>
      <p:sp>
        <p:nvSpPr>
          <p:cNvPr id="25" name="Text 23"/>
          <p:cNvSpPr/>
          <p:nvPr/>
        </p:nvSpPr>
        <p:spPr>
          <a:xfrm>
            <a:off x="6236208" y="1965960"/>
            <a:ext cx="2505456" cy="685800"/>
          </a:xfrm>
          <a:prstGeom prst="rect">
            <a:avLst/>
          </a:prstGeom>
          <a:noFill/>
          <a:ln/>
        </p:spPr>
        <p:txBody>
          <a:bodyPr wrap="square" lIns="50800" tIns="50800" rIns="50800" bIns="50800" rtlCol="0" anchor="t"/>
          <a:lstStyle/>
          <a:p>
            <a:pPr marL="342900" indent="-342900">
              <a:buSzPct val="100000"/>
              <a:buChar char="•"/>
            </a:pPr>
            <a:r>
              <a:rPr lang="en-US" sz="1100" dirty="0">
                <a:solidFill>
                  <a:srgbClr val="C8C8C8"/>
                </a:solidFill>
                <a:latin typeface="Calibri" pitchFamily="34" charset="0"/>
                <a:ea typeface="Calibri" pitchFamily="34" charset="-122"/>
                <a:cs typeface="Calibri" pitchFamily="34" charset="-120"/>
              </a:rPr>
              <a:t>Trains 100 trees on random bootstrap samples and feature subsets, then combines predictions by majority vote</a:t>
            </a:r>
            <a:endParaRPr lang="en-US" sz="1100" dirty="0"/>
          </a:p>
        </p:txBody>
      </p:sp>
      <p:sp>
        <p:nvSpPr>
          <p:cNvPr id="26" name="Text 24"/>
          <p:cNvSpPr/>
          <p:nvPr/>
        </p:nvSpPr>
        <p:spPr>
          <a:xfrm>
            <a:off x="6236208" y="2743200"/>
            <a:ext cx="2505456" cy="685800"/>
          </a:xfrm>
          <a:prstGeom prst="rect">
            <a:avLst/>
          </a:prstGeom>
          <a:noFill/>
          <a:ln/>
        </p:spPr>
        <p:txBody>
          <a:bodyPr wrap="square" lIns="50800" tIns="50800" rIns="50800" bIns="50800" rtlCol="0" anchor="t"/>
          <a:lstStyle/>
          <a:p>
            <a:pPr marL="342900" indent="-342900">
              <a:buSzPct val="100000"/>
              <a:buChar char="•"/>
            </a:pPr>
            <a:r>
              <a:rPr lang="en-US" sz="1100" dirty="0">
                <a:solidFill>
                  <a:srgbClr val="C8C8C8"/>
                </a:solidFill>
                <a:latin typeface="Calibri" pitchFamily="34" charset="0"/>
                <a:ea typeface="Calibri" pitchFamily="34" charset="-122"/>
                <a:cs typeface="Calibri" pitchFamily="34" charset="-120"/>
              </a:rPr>
              <a:t>Reduces variance through randomness </a:t>
            </a:r>
          </a:p>
          <a:p>
            <a:pPr marL="800100" lvl="1" indent="-342900">
              <a:buSzPct val="100000"/>
              <a:buChar char="•"/>
            </a:pPr>
            <a:r>
              <a:rPr lang="en-US" sz="1100" dirty="0">
                <a:solidFill>
                  <a:srgbClr val="C8C8C8"/>
                </a:solidFill>
                <a:latin typeface="Calibri" pitchFamily="34" charset="0"/>
                <a:ea typeface="Calibri" pitchFamily="34" charset="-122"/>
                <a:cs typeface="Calibri" pitchFamily="34" charset="-120"/>
              </a:rPr>
              <a:t>no single tree can be read, so individual predictions can't be explained</a:t>
            </a:r>
            <a:endParaRPr lang="en-US" sz="1100" dirty="0"/>
          </a:p>
        </p:txBody>
      </p:sp>
      <p:sp>
        <p:nvSpPr>
          <p:cNvPr id="27" name="Text 25"/>
          <p:cNvSpPr/>
          <p:nvPr/>
        </p:nvSpPr>
        <p:spPr>
          <a:xfrm>
            <a:off x="6236208" y="3630168"/>
            <a:ext cx="2505456" cy="685800"/>
          </a:xfrm>
          <a:prstGeom prst="rect">
            <a:avLst/>
          </a:prstGeom>
          <a:noFill/>
          <a:ln/>
        </p:spPr>
        <p:txBody>
          <a:bodyPr wrap="square" lIns="50800" tIns="50800" rIns="50800" bIns="50800" rtlCol="0" anchor="t"/>
          <a:lstStyle/>
          <a:p>
            <a:pPr marL="342900" indent="-342900">
              <a:buSzPct val="100000"/>
              <a:buChar char="•"/>
            </a:pPr>
            <a:r>
              <a:rPr lang="en-US" sz="1100" dirty="0">
                <a:solidFill>
                  <a:srgbClr val="C8C8C8"/>
                </a:solidFill>
                <a:latin typeface="Calibri" pitchFamily="34" charset="0"/>
                <a:ea typeface="Calibri" pitchFamily="34" charset="-122"/>
                <a:cs typeface="Calibri" pitchFamily="34" charset="-120"/>
              </a:rPr>
              <a:t>Included as an upper-bound benchmark to quantify the accuracy cost of choosing the interpretable tree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151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002D"/>
          </a:solidFill>
          <a:ln w="12700">
            <a:solidFill>
              <a:srgbClr val="E8002D"/>
            </a:solidFill>
            <a:prstDash val="solid"/>
          </a:ln>
        </p:spPr>
        <p:txBody>
          <a:bodyPr/>
          <a:lstStyle/>
          <a:p>
            <a:endParaRPr lang="en-US"/>
          </a:p>
        </p:txBody>
      </p:sp>
      <p:sp>
        <p:nvSpPr>
          <p:cNvPr id="3" name="Text 1"/>
          <p:cNvSpPr/>
          <p:nvPr/>
        </p:nvSpPr>
        <p:spPr>
          <a:xfrm>
            <a:off x="365760" y="228600"/>
            <a:ext cx="6400800" cy="457200"/>
          </a:xfrm>
          <a:prstGeom prst="rect">
            <a:avLst/>
          </a:prstGeom>
          <a:noFill/>
          <a:ln/>
        </p:spPr>
        <p:txBody>
          <a:bodyPr wrap="square" lIns="0" tIns="0" rIns="0" bIns="0" rtlCol="0" anchor="ctr"/>
          <a:lstStyle/>
          <a:p>
            <a:pPr marL="0" indent="0">
              <a:buNone/>
            </a:pPr>
            <a:r>
              <a:rPr lang="en-US" sz="2600" b="1" dirty="0">
                <a:solidFill>
                  <a:srgbClr val="FFFFFF"/>
                </a:solidFill>
                <a:latin typeface="Arial Black" pitchFamily="34" charset="0"/>
                <a:ea typeface="Arial Black" pitchFamily="34" charset="-122"/>
                <a:cs typeface="Arial Black" pitchFamily="34" charset="-120"/>
              </a:rPr>
              <a:t>The Decision Tree</a:t>
            </a:r>
            <a:endParaRPr lang="en-US" sz="2600" dirty="0"/>
          </a:p>
        </p:txBody>
      </p:sp>
      <p:pic>
        <p:nvPicPr>
          <p:cNvPr id="4" name="Image 0" descr="/home/claude/decision_tree.png"/>
          <p:cNvPicPr>
            <a:picLocks noChangeAspect="1"/>
          </p:cNvPicPr>
          <p:nvPr/>
        </p:nvPicPr>
        <p:blipFill>
          <a:blip r:embed="rId3"/>
          <a:stretch>
            <a:fillRect/>
          </a:stretch>
        </p:blipFill>
        <p:spPr>
          <a:xfrm>
            <a:off x="274320" y="777240"/>
            <a:ext cx="8595360" cy="4069080"/>
          </a:xfrm>
          <a:prstGeom prst="rect">
            <a:avLst/>
          </a:prstGeom>
        </p:spPr>
      </p:pic>
      <p:sp>
        <p:nvSpPr>
          <p:cNvPr id="5" name="Text 2"/>
          <p:cNvSpPr/>
          <p:nvPr/>
        </p:nvSpPr>
        <p:spPr>
          <a:xfrm>
            <a:off x="320040" y="4800600"/>
            <a:ext cx="8503920" cy="274320"/>
          </a:xfrm>
          <a:prstGeom prst="rect">
            <a:avLst/>
          </a:prstGeom>
          <a:noFill/>
          <a:ln/>
        </p:spPr>
        <p:txBody>
          <a:bodyPr wrap="square" lIns="0" tIns="0" rIns="0" bIns="0" rtlCol="0" anchor="ctr"/>
          <a:lstStyle/>
          <a:p>
            <a:pPr marL="0" indent="0" algn="ctr">
              <a:buNone/>
            </a:pPr>
            <a:r>
              <a:rPr lang="en-US" sz="1050" dirty="0">
                <a:solidFill>
                  <a:srgbClr val="8888AA"/>
                </a:solidFill>
                <a:latin typeface="Calibri" pitchFamily="34" charset="0"/>
                <a:ea typeface="Calibri" pitchFamily="34" charset="-122"/>
                <a:cs typeface="Calibri" pitchFamily="34" charset="-120"/>
              </a:rPr>
              <a:t>Root split: grid_position ≤ 4.5 — qualifying is the most important decision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5151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002D"/>
          </a:solidFill>
          <a:ln w="12700">
            <a:solidFill>
              <a:srgbClr val="E8002D"/>
            </a:solidFill>
            <a:prstDash val="solid"/>
          </a:ln>
        </p:spPr>
        <p:txBody>
          <a:bodyPr/>
          <a:lstStyle/>
          <a:p>
            <a:endParaRPr lang="en-US"/>
          </a:p>
        </p:txBody>
      </p:sp>
      <p:sp>
        <p:nvSpPr>
          <p:cNvPr id="3" name="Text 1"/>
          <p:cNvSpPr/>
          <p:nvPr/>
        </p:nvSpPr>
        <p:spPr>
          <a:xfrm>
            <a:off x="365760" y="228600"/>
            <a:ext cx="6400800" cy="457200"/>
          </a:xfrm>
          <a:prstGeom prst="rect">
            <a:avLst/>
          </a:prstGeom>
          <a:noFill/>
          <a:ln/>
        </p:spPr>
        <p:txBody>
          <a:bodyPr wrap="square" lIns="0" tIns="0" rIns="0" bIns="0" rtlCol="0" anchor="ctr"/>
          <a:lstStyle/>
          <a:p>
            <a:pPr marL="0" indent="0">
              <a:buNone/>
            </a:pPr>
            <a:r>
              <a:rPr lang="en-US" sz="2600" b="1" dirty="0">
                <a:solidFill>
                  <a:srgbClr val="FFFFFF"/>
                </a:solidFill>
                <a:latin typeface="Arial Black" pitchFamily="34" charset="0"/>
                <a:ea typeface="Arial Black" pitchFamily="34" charset="-122"/>
                <a:cs typeface="Arial Black" pitchFamily="34" charset="-120"/>
              </a:rPr>
              <a:t>Feature Importance</a:t>
            </a:r>
            <a:endParaRPr lang="en-US" sz="2600" dirty="0"/>
          </a:p>
        </p:txBody>
      </p:sp>
      <p:pic>
        <p:nvPicPr>
          <p:cNvPr id="4" name="Image 0" descr="/home/claude/feature_importance.png"/>
          <p:cNvPicPr>
            <a:picLocks noChangeAspect="1"/>
          </p:cNvPicPr>
          <p:nvPr/>
        </p:nvPicPr>
        <p:blipFill>
          <a:blip r:embed="rId3"/>
          <a:stretch>
            <a:fillRect/>
          </a:stretch>
        </p:blipFill>
        <p:spPr>
          <a:xfrm>
            <a:off x="274320" y="777240"/>
            <a:ext cx="8595360" cy="3474720"/>
          </a:xfrm>
          <a:prstGeom prst="rect">
            <a:avLst/>
          </a:prstGeom>
        </p:spPr>
      </p:pic>
      <p:sp>
        <p:nvSpPr>
          <p:cNvPr id="5" name="Shape 2"/>
          <p:cNvSpPr/>
          <p:nvPr/>
        </p:nvSpPr>
        <p:spPr>
          <a:xfrm>
            <a:off x="320040" y="4370832"/>
            <a:ext cx="8503920" cy="594360"/>
          </a:xfrm>
          <a:prstGeom prst="rect">
            <a:avLst/>
          </a:prstGeom>
          <a:solidFill>
            <a:srgbClr val="252535"/>
          </a:solidFill>
          <a:ln w="12700">
            <a:solidFill>
              <a:srgbClr val="383858"/>
            </a:solidFill>
            <a:prstDash val="solid"/>
          </a:ln>
        </p:spPr>
        <p:txBody>
          <a:bodyPr/>
          <a:lstStyle/>
          <a:p>
            <a:endParaRPr lang="en-US"/>
          </a:p>
        </p:txBody>
      </p:sp>
      <p:sp>
        <p:nvSpPr>
          <p:cNvPr id="6" name="Shape 3"/>
          <p:cNvSpPr/>
          <p:nvPr/>
        </p:nvSpPr>
        <p:spPr>
          <a:xfrm>
            <a:off x="320040" y="4370832"/>
            <a:ext cx="54864" cy="594360"/>
          </a:xfrm>
          <a:prstGeom prst="rect">
            <a:avLst/>
          </a:prstGeom>
          <a:solidFill>
            <a:srgbClr val="E8002D"/>
          </a:solidFill>
          <a:ln w="12700">
            <a:solidFill>
              <a:srgbClr val="E8002D"/>
            </a:solidFill>
            <a:prstDash val="solid"/>
          </a:ln>
        </p:spPr>
        <p:txBody>
          <a:bodyPr/>
          <a:lstStyle/>
          <a:p>
            <a:endParaRPr lang="en-US"/>
          </a:p>
        </p:txBody>
      </p:sp>
      <p:sp>
        <p:nvSpPr>
          <p:cNvPr id="7" name="Text 4"/>
          <p:cNvSpPr/>
          <p:nvPr/>
        </p:nvSpPr>
        <p:spPr>
          <a:xfrm>
            <a:off x="457200" y="4370832"/>
            <a:ext cx="8321040" cy="594360"/>
          </a:xfrm>
          <a:prstGeom prst="rect">
            <a:avLst/>
          </a:prstGeom>
          <a:noFill/>
          <a:ln/>
        </p:spPr>
        <p:txBody>
          <a:bodyPr wrap="square" lIns="50800" tIns="50800" rIns="50800" bIns="50800" rtlCol="0" anchor="ctr"/>
          <a:lstStyle/>
          <a:p>
            <a:pPr marL="0" indent="0">
              <a:buNone/>
            </a:pPr>
            <a:r>
              <a:rPr lang="en-US" sz="1100" dirty="0">
                <a:solidFill>
                  <a:srgbClr val="C8C8C8"/>
                </a:solidFill>
                <a:latin typeface="Calibri" pitchFamily="34" charset="0"/>
                <a:ea typeface="Calibri" pitchFamily="34" charset="-122"/>
                <a:cs typeface="Calibri" pitchFamily="34" charset="-120"/>
              </a:rPr>
              <a:t>Key insight: The single tree concentrates almost all importance on </a:t>
            </a:r>
            <a:r>
              <a:rPr lang="en-US" sz="1100" dirty="0" err="1">
                <a:solidFill>
                  <a:srgbClr val="C8C8C8"/>
                </a:solidFill>
                <a:latin typeface="Calibri" pitchFamily="34" charset="0"/>
                <a:ea typeface="Calibri" pitchFamily="34" charset="-122"/>
                <a:cs typeface="Calibri" pitchFamily="34" charset="-120"/>
              </a:rPr>
              <a:t>grid_position</a:t>
            </a:r>
            <a:r>
              <a:rPr lang="en-US" sz="1100" dirty="0">
                <a:solidFill>
                  <a:srgbClr val="C8C8C8"/>
                </a:solidFill>
                <a:latin typeface="Calibri" pitchFamily="34" charset="0"/>
                <a:ea typeface="Calibri" pitchFamily="34" charset="-122"/>
                <a:cs typeface="Calibri" pitchFamily="34" charset="-120"/>
              </a:rPr>
              <a:t> (&gt;0.8). The random forest distributes weight more evenly, which likely explains why it generalizes better.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151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002D"/>
          </a:solidFill>
          <a:ln w="12700">
            <a:solidFill>
              <a:srgbClr val="E8002D"/>
            </a:solidFill>
            <a:prstDash val="solid"/>
          </a:ln>
        </p:spPr>
        <p:txBody>
          <a:bodyPr/>
          <a:lstStyle/>
          <a:p>
            <a:endParaRPr lang="en-US"/>
          </a:p>
        </p:txBody>
      </p:sp>
      <p:sp>
        <p:nvSpPr>
          <p:cNvPr id="3" name="Text 1"/>
          <p:cNvSpPr/>
          <p:nvPr/>
        </p:nvSpPr>
        <p:spPr>
          <a:xfrm>
            <a:off x="365760" y="228600"/>
            <a:ext cx="6400800" cy="457200"/>
          </a:xfrm>
          <a:prstGeom prst="rect">
            <a:avLst/>
          </a:prstGeom>
          <a:noFill/>
          <a:ln/>
        </p:spPr>
        <p:txBody>
          <a:bodyPr wrap="square" lIns="0" tIns="0" rIns="0" bIns="0" rtlCol="0" anchor="ctr"/>
          <a:lstStyle/>
          <a:p>
            <a:pPr marL="0" indent="0">
              <a:buNone/>
            </a:pPr>
            <a:r>
              <a:rPr lang="en-US" sz="2600" b="1" dirty="0">
                <a:solidFill>
                  <a:srgbClr val="FFFFFF"/>
                </a:solidFill>
                <a:latin typeface="Arial Black" pitchFamily="34" charset="0"/>
                <a:ea typeface="Arial Black" pitchFamily="34" charset="-122"/>
                <a:cs typeface="Arial Black" pitchFamily="34" charset="-120"/>
              </a:rPr>
              <a:t>Confusion Matrices</a:t>
            </a:r>
            <a:endParaRPr lang="en-US" sz="2600" dirty="0"/>
          </a:p>
        </p:txBody>
      </p:sp>
      <p:pic>
        <p:nvPicPr>
          <p:cNvPr id="4" name="Image 0" descr="/home/claude/confusion_matrices.png"/>
          <p:cNvPicPr>
            <a:picLocks noChangeAspect="1"/>
          </p:cNvPicPr>
          <p:nvPr/>
        </p:nvPicPr>
        <p:blipFill>
          <a:blip r:embed="rId3"/>
          <a:stretch>
            <a:fillRect/>
          </a:stretch>
        </p:blipFill>
        <p:spPr>
          <a:xfrm>
            <a:off x="274320" y="777240"/>
            <a:ext cx="8595360" cy="3383280"/>
          </a:xfrm>
          <a:prstGeom prst="rect">
            <a:avLst/>
          </a:prstGeom>
        </p:spPr>
      </p:pic>
      <p:sp>
        <p:nvSpPr>
          <p:cNvPr id="5" name="Shape 2"/>
          <p:cNvSpPr/>
          <p:nvPr/>
        </p:nvSpPr>
        <p:spPr>
          <a:xfrm>
            <a:off x="598234" y="4297680"/>
            <a:ext cx="2286000" cy="685800"/>
          </a:xfrm>
          <a:prstGeom prst="rect">
            <a:avLst/>
          </a:prstGeom>
          <a:solidFill>
            <a:srgbClr val="252535"/>
          </a:solidFill>
          <a:ln w="12700">
            <a:solidFill>
              <a:srgbClr val="383858"/>
            </a:solidFill>
            <a:prstDash val="solid"/>
          </a:ln>
        </p:spPr>
        <p:txBody>
          <a:bodyPr/>
          <a:lstStyle/>
          <a:p>
            <a:endParaRPr lang="en-US"/>
          </a:p>
        </p:txBody>
      </p:sp>
      <p:sp>
        <p:nvSpPr>
          <p:cNvPr id="6" name="Text 3"/>
          <p:cNvSpPr/>
          <p:nvPr/>
        </p:nvSpPr>
        <p:spPr>
          <a:xfrm>
            <a:off x="598234" y="4315968"/>
            <a:ext cx="2286000" cy="347472"/>
          </a:xfrm>
          <a:prstGeom prst="rect">
            <a:avLst/>
          </a:prstGeom>
          <a:noFill/>
          <a:ln/>
        </p:spPr>
        <p:txBody>
          <a:bodyPr wrap="square" lIns="0" tIns="0" rIns="0" bIns="0" rtlCol="0" anchor="ctr"/>
          <a:lstStyle/>
          <a:p>
            <a:pPr marL="0" indent="0" algn="ctr">
              <a:buNone/>
            </a:pPr>
            <a:r>
              <a:rPr lang="en-US" sz="2600" b="1" dirty="0">
                <a:solidFill>
                  <a:srgbClr val="E8002D"/>
                </a:solidFill>
                <a:latin typeface="Arial Black" pitchFamily="34" charset="0"/>
                <a:ea typeface="Arial Black" pitchFamily="34" charset="-122"/>
                <a:cs typeface="Arial Black" pitchFamily="34" charset="-120"/>
              </a:rPr>
              <a:t>100</a:t>
            </a:r>
            <a:endParaRPr lang="en-US" sz="2600" dirty="0"/>
          </a:p>
        </p:txBody>
      </p:sp>
      <p:sp>
        <p:nvSpPr>
          <p:cNvPr id="7" name="Text 4"/>
          <p:cNvSpPr/>
          <p:nvPr/>
        </p:nvSpPr>
        <p:spPr>
          <a:xfrm>
            <a:off x="598234" y="4617720"/>
            <a:ext cx="2286000" cy="228600"/>
          </a:xfrm>
          <a:prstGeom prst="rect">
            <a:avLst/>
          </a:prstGeom>
          <a:noFill/>
          <a:ln/>
        </p:spPr>
        <p:txBody>
          <a:bodyPr wrap="square" lIns="0" tIns="0" rIns="0" bIns="0" rtlCol="0" anchor="ctr"/>
          <a:lstStyle/>
          <a:p>
            <a:pPr marL="0" indent="0" algn="ctr">
              <a:buNone/>
            </a:pPr>
            <a:r>
              <a:rPr lang="en-US" sz="900" dirty="0">
                <a:solidFill>
                  <a:srgbClr val="8888AA"/>
                </a:solidFill>
                <a:latin typeface="Calibri" pitchFamily="34" charset="0"/>
                <a:ea typeface="Calibri" pitchFamily="34" charset="-122"/>
                <a:cs typeface="Calibri" pitchFamily="34" charset="-120"/>
              </a:rPr>
              <a:t>LR caught — true podiums</a:t>
            </a:r>
            <a:endParaRPr lang="en-US" sz="900" dirty="0"/>
          </a:p>
        </p:txBody>
      </p:sp>
      <p:sp>
        <p:nvSpPr>
          <p:cNvPr id="8" name="Shape 5"/>
          <p:cNvSpPr/>
          <p:nvPr/>
        </p:nvSpPr>
        <p:spPr>
          <a:xfrm>
            <a:off x="3652950" y="4297680"/>
            <a:ext cx="2286000" cy="685800"/>
          </a:xfrm>
          <a:prstGeom prst="rect">
            <a:avLst/>
          </a:prstGeom>
          <a:solidFill>
            <a:srgbClr val="252535"/>
          </a:solidFill>
          <a:ln w="12700">
            <a:solidFill>
              <a:srgbClr val="383858"/>
            </a:solidFill>
            <a:prstDash val="solid"/>
          </a:ln>
        </p:spPr>
        <p:txBody>
          <a:bodyPr/>
          <a:lstStyle/>
          <a:p>
            <a:endParaRPr lang="en-US"/>
          </a:p>
        </p:txBody>
      </p:sp>
      <p:sp>
        <p:nvSpPr>
          <p:cNvPr id="9" name="Text 6"/>
          <p:cNvSpPr/>
          <p:nvPr/>
        </p:nvSpPr>
        <p:spPr>
          <a:xfrm>
            <a:off x="3652950" y="4315968"/>
            <a:ext cx="2286000" cy="347472"/>
          </a:xfrm>
          <a:prstGeom prst="rect">
            <a:avLst/>
          </a:prstGeom>
          <a:noFill/>
          <a:ln/>
        </p:spPr>
        <p:txBody>
          <a:bodyPr wrap="square" lIns="0" tIns="0" rIns="0" bIns="0" rtlCol="0" anchor="ctr"/>
          <a:lstStyle/>
          <a:p>
            <a:pPr marL="0" indent="0" algn="ctr">
              <a:buNone/>
            </a:pPr>
            <a:r>
              <a:rPr lang="en-US" sz="2600" b="1" dirty="0">
                <a:solidFill>
                  <a:srgbClr val="E8002D"/>
                </a:solidFill>
                <a:latin typeface="Arial Black" pitchFamily="34" charset="0"/>
                <a:ea typeface="Arial Black" pitchFamily="34" charset="-122"/>
                <a:cs typeface="Arial Black" pitchFamily="34" charset="-120"/>
              </a:rPr>
              <a:t>104</a:t>
            </a:r>
            <a:endParaRPr lang="en-US" sz="2600" dirty="0"/>
          </a:p>
        </p:txBody>
      </p:sp>
      <p:sp>
        <p:nvSpPr>
          <p:cNvPr id="10" name="Text 7"/>
          <p:cNvSpPr/>
          <p:nvPr/>
        </p:nvSpPr>
        <p:spPr>
          <a:xfrm>
            <a:off x="3652950" y="4617720"/>
            <a:ext cx="2286000" cy="228600"/>
          </a:xfrm>
          <a:prstGeom prst="rect">
            <a:avLst/>
          </a:prstGeom>
          <a:noFill/>
          <a:ln/>
        </p:spPr>
        <p:txBody>
          <a:bodyPr wrap="square" lIns="0" tIns="0" rIns="0" bIns="0" rtlCol="0" anchor="ctr"/>
          <a:lstStyle/>
          <a:p>
            <a:pPr marL="0" indent="0" algn="ctr">
              <a:buNone/>
            </a:pPr>
            <a:r>
              <a:rPr lang="en-US" sz="900" dirty="0">
                <a:solidFill>
                  <a:srgbClr val="8888AA"/>
                </a:solidFill>
                <a:latin typeface="Calibri" pitchFamily="34" charset="0"/>
                <a:ea typeface="Calibri" pitchFamily="34" charset="-122"/>
                <a:cs typeface="Calibri" pitchFamily="34" charset="-120"/>
              </a:rPr>
              <a:t>DT caught — true podiums</a:t>
            </a:r>
            <a:endParaRPr lang="en-US" sz="900" dirty="0"/>
          </a:p>
        </p:txBody>
      </p:sp>
      <p:sp>
        <p:nvSpPr>
          <p:cNvPr id="11" name="Shape 8"/>
          <p:cNvSpPr/>
          <p:nvPr/>
        </p:nvSpPr>
        <p:spPr>
          <a:xfrm>
            <a:off x="6583680" y="4297680"/>
            <a:ext cx="2286000" cy="685800"/>
          </a:xfrm>
          <a:prstGeom prst="rect">
            <a:avLst/>
          </a:prstGeom>
          <a:solidFill>
            <a:srgbClr val="252535"/>
          </a:solidFill>
          <a:ln w="12700">
            <a:solidFill>
              <a:srgbClr val="383858"/>
            </a:solidFill>
            <a:prstDash val="solid"/>
          </a:ln>
        </p:spPr>
        <p:txBody>
          <a:bodyPr/>
          <a:lstStyle/>
          <a:p>
            <a:endParaRPr lang="en-US"/>
          </a:p>
        </p:txBody>
      </p:sp>
      <p:sp>
        <p:nvSpPr>
          <p:cNvPr id="12" name="Text 9"/>
          <p:cNvSpPr/>
          <p:nvPr/>
        </p:nvSpPr>
        <p:spPr>
          <a:xfrm>
            <a:off x="6583680" y="4315968"/>
            <a:ext cx="2286000" cy="347472"/>
          </a:xfrm>
          <a:prstGeom prst="rect">
            <a:avLst/>
          </a:prstGeom>
          <a:noFill/>
          <a:ln/>
        </p:spPr>
        <p:txBody>
          <a:bodyPr wrap="square" lIns="0" tIns="0" rIns="0" bIns="0" rtlCol="0" anchor="ctr"/>
          <a:lstStyle/>
          <a:p>
            <a:pPr marL="0" indent="0" algn="ctr">
              <a:buNone/>
            </a:pPr>
            <a:r>
              <a:rPr lang="en-US" sz="2600" b="1" dirty="0">
                <a:solidFill>
                  <a:srgbClr val="E8002D"/>
                </a:solidFill>
                <a:latin typeface="Arial Black" pitchFamily="34" charset="0"/>
                <a:ea typeface="Arial Black" pitchFamily="34" charset="-122"/>
                <a:cs typeface="Arial Black" pitchFamily="34" charset="-120"/>
              </a:rPr>
              <a:t>120</a:t>
            </a:r>
            <a:endParaRPr lang="en-US" sz="2600" dirty="0"/>
          </a:p>
        </p:txBody>
      </p:sp>
      <p:sp>
        <p:nvSpPr>
          <p:cNvPr id="13" name="Text 10"/>
          <p:cNvSpPr/>
          <p:nvPr/>
        </p:nvSpPr>
        <p:spPr>
          <a:xfrm>
            <a:off x="6583680" y="4617720"/>
            <a:ext cx="2286000" cy="228600"/>
          </a:xfrm>
          <a:prstGeom prst="rect">
            <a:avLst/>
          </a:prstGeom>
          <a:noFill/>
          <a:ln/>
        </p:spPr>
        <p:txBody>
          <a:bodyPr wrap="square" lIns="0" tIns="0" rIns="0" bIns="0" rtlCol="0" anchor="ctr"/>
          <a:lstStyle/>
          <a:p>
            <a:pPr marL="0" indent="0" algn="ctr">
              <a:buNone/>
            </a:pPr>
            <a:r>
              <a:rPr lang="en-US" sz="900" dirty="0">
                <a:solidFill>
                  <a:srgbClr val="8888AA"/>
                </a:solidFill>
                <a:latin typeface="Calibri" pitchFamily="34" charset="0"/>
                <a:ea typeface="Calibri" pitchFamily="34" charset="-122"/>
                <a:cs typeface="Calibri" pitchFamily="34" charset="-120"/>
              </a:rPr>
              <a:t>RF caught — true podiums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151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002D"/>
          </a:solidFill>
          <a:ln w="12700">
            <a:solidFill>
              <a:srgbClr val="E8002D"/>
            </a:solidFill>
            <a:prstDash val="solid"/>
          </a:ln>
        </p:spPr>
        <p:txBody>
          <a:bodyPr/>
          <a:lstStyle/>
          <a:p>
            <a:endParaRPr lang="en-US"/>
          </a:p>
        </p:txBody>
      </p:sp>
      <p:sp>
        <p:nvSpPr>
          <p:cNvPr id="3" name="Text 1"/>
          <p:cNvSpPr/>
          <p:nvPr/>
        </p:nvSpPr>
        <p:spPr>
          <a:xfrm>
            <a:off x="365760" y="228600"/>
            <a:ext cx="5486400" cy="457200"/>
          </a:xfrm>
          <a:prstGeom prst="rect">
            <a:avLst/>
          </a:prstGeom>
          <a:noFill/>
          <a:ln/>
        </p:spPr>
        <p:txBody>
          <a:bodyPr wrap="square" lIns="0" tIns="0" rIns="0" bIns="0" rtlCol="0" anchor="ctr"/>
          <a:lstStyle/>
          <a:p>
            <a:pPr marL="0" indent="0">
              <a:buNone/>
            </a:pPr>
            <a:r>
              <a:rPr lang="en-US" sz="2600" b="1" dirty="0">
                <a:solidFill>
                  <a:srgbClr val="FFFFFF"/>
                </a:solidFill>
                <a:latin typeface="Arial Black" pitchFamily="34" charset="0"/>
                <a:ea typeface="Arial Black" pitchFamily="34" charset="-122"/>
                <a:cs typeface="Arial Black" pitchFamily="34" charset="-120"/>
              </a:rPr>
              <a:t>ROC Curves &amp; AUC</a:t>
            </a:r>
            <a:endParaRPr lang="en-US" sz="2600" dirty="0"/>
          </a:p>
        </p:txBody>
      </p:sp>
      <p:pic>
        <p:nvPicPr>
          <p:cNvPr id="4" name="Image 0" descr="/home/claude/roc_curves.png"/>
          <p:cNvPicPr>
            <a:picLocks noChangeAspect="1"/>
          </p:cNvPicPr>
          <p:nvPr/>
        </p:nvPicPr>
        <p:blipFill>
          <a:blip r:embed="rId3"/>
          <a:stretch>
            <a:fillRect/>
          </a:stretch>
        </p:blipFill>
        <p:spPr>
          <a:xfrm>
            <a:off x="274320" y="777240"/>
            <a:ext cx="5120640" cy="4160520"/>
          </a:xfrm>
          <a:prstGeom prst="rect">
            <a:avLst/>
          </a:prstGeom>
        </p:spPr>
      </p:pic>
      <p:sp>
        <p:nvSpPr>
          <p:cNvPr id="5" name="Shape 2"/>
          <p:cNvSpPr/>
          <p:nvPr/>
        </p:nvSpPr>
        <p:spPr>
          <a:xfrm>
            <a:off x="5669280" y="1097280"/>
            <a:ext cx="3200400" cy="868680"/>
          </a:xfrm>
          <a:prstGeom prst="rect">
            <a:avLst/>
          </a:prstGeom>
          <a:solidFill>
            <a:srgbClr val="252535"/>
          </a:solidFill>
          <a:ln w="12700">
            <a:solidFill>
              <a:srgbClr val="383858"/>
            </a:solidFill>
            <a:prstDash val="solid"/>
          </a:ln>
        </p:spPr>
        <p:txBody>
          <a:bodyPr/>
          <a:lstStyle/>
          <a:p>
            <a:endParaRPr lang="en-US"/>
          </a:p>
        </p:txBody>
      </p:sp>
      <p:sp>
        <p:nvSpPr>
          <p:cNvPr id="6" name="Shape 3"/>
          <p:cNvSpPr/>
          <p:nvPr/>
        </p:nvSpPr>
        <p:spPr>
          <a:xfrm>
            <a:off x="5669280" y="1097280"/>
            <a:ext cx="54864" cy="868680"/>
          </a:xfrm>
          <a:prstGeom prst="rect">
            <a:avLst/>
          </a:prstGeom>
          <a:solidFill>
            <a:srgbClr val="4A9EFF"/>
          </a:solidFill>
          <a:ln w="12700">
            <a:solidFill>
              <a:srgbClr val="4A9EFF"/>
            </a:solidFill>
            <a:prstDash val="solid"/>
          </a:ln>
        </p:spPr>
        <p:txBody>
          <a:bodyPr/>
          <a:lstStyle/>
          <a:p>
            <a:endParaRPr lang="en-US"/>
          </a:p>
        </p:txBody>
      </p:sp>
      <p:sp>
        <p:nvSpPr>
          <p:cNvPr id="7" name="Text 4"/>
          <p:cNvSpPr/>
          <p:nvPr/>
        </p:nvSpPr>
        <p:spPr>
          <a:xfrm>
            <a:off x="5806440" y="1170432"/>
            <a:ext cx="3017520" cy="384048"/>
          </a:xfrm>
          <a:prstGeom prst="rect">
            <a:avLst/>
          </a:prstGeom>
          <a:noFill/>
          <a:ln/>
        </p:spPr>
        <p:txBody>
          <a:bodyPr wrap="square" lIns="0" tIns="0" rIns="0" bIns="0" rtlCol="0" anchor="ctr"/>
          <a:lstStyle/>
          <a:p>
            <a:pPr marL="0" indent="0">
              <a:buNone/>
            </a:pPr>
            <a:r>
              <a:rPr lang="en-US" sz="2800" b="1" dirty="0">
                <a:solidFill>
                  <a:srgbClr val="4A9EFF"/>
                </a:solidFill>
                <a:latin typeface="Arial Black" pitchFamily="34" charset="0"/>
                <a:ea typeface="Arial Black" pitchFamily="34" charset="-122"/>
                <a:cs typeface="Arial Black" pitchFamily="34" charset="-120"/>
              </a:rPr>
              <a:t>0.936</a:t>
            </a:r>
            <a:endParaRPr lang="en-US" sz="2800" dirty="0"/>
          </a:p>
        </p:txBody>
      </p:sp>
      <p:sp>
        <p:nvSpPr>
          <p:cNvPr id="8" name="Text 5"/>
          <p:cNvSpPr/>
          <p:nvPr/>
        </p:nvSpPr>
        <p:spPr>
          <a:xfrm>
            <a:off x="5806440" y="1600200"/>
            <a:ext cx="3017520" cy="256032"/>
          </a:xfrm>
          <a:prstGeom prst="rect">
            <a:avLst/>
          </a:prstGeom>
          <a:noFill/>
          <a:ln/>
        </p:spPr>
        <p:txBody>
          <a:bodyPr wrap="square" lIns="0" tIns="0" rIns="0" bIns="0" rtlCol="0" anchor="ctr"/>
          <a:lstStyle/>
          <a:p>
            <a:pPr marL="0" indent="0">
              <a:buNone/>
            </a:pPr>
            <a:r>
              <a:rPr lang="en-US" sz="1000" dirty="0">
                <a:solidFill>
                  <a:srgbClr val="8888AA"/>
                </a:solidFill>
                <a:latin typeface="Calibri" pitchFamily="34" charset="0"/>
                <a:ea typeface="Calibri" pitchFamily="34" charset="-122"/>
                <a:cs typeface="Calibri" pitchFamily="34" charset="-120"/>
              </a:rPr>
              <a:t>Logistic Regression AUC</a:t>
            </a:r>
            <a:endParaRPr lang="en-US" sz="1000" dirty="0"/>
          </a:p>
        </p:txBody>
      </p:sp>
      <p:sp>
        <p:nvSpPr>
          <p:cNvPr id="9" name="Shape 6"/>
          <p:cNvSpPr/>
          <p:nvPr/>
        </p:nvSpPr>
        <p:spPr>
          <a:xfrm>
            <a:off x="5669280" y="2148840"/>
            <a:ext cx="3200400" cy="868680"/>
          </a:xfrm>
          <a:prstGeom prst="rect">
            <a:avLst/>
          </a:prstGeom>
          <a:solidFill>
            <a:srgbClr val="252535"/>
          </a:solidFill>
          <a:ln w="12700">
            <a:solidFill>
              <a:srgbClr val="383858"/>
            </a:solidFill>
            <a:prstDash val="solid"/>
          </a:ln>
        </p:spPr>
        <p:txBody>
          <a:bodyPr/>
          <a:lstStyle/>
          <a:p>
            <a:endParaRPr lang="en-US"/>
          </a:p>
        </p:txBody>
      </p:sp>
      <p:sp>
        <p:nvSpPr>
          <p:cNvPr id="10" name="Shape 7"/>
          <p:cNvSpPr/>
          <p:nvPr/>
        </p:nvSpPr>
        <p:spPr>
          <a:xfrm>
            <a:off x="5669280" y="2148840"/>
            <a:ext cx="54864" cy="868680"/>
          </a:xfrm>
          <a:prstGeom prst="rect">
            <a:avLst/>
          </a:prstGeom>
          <a:solidFill>
            <a:srgbClr val="E8002D"/>
          </a:solidFill>
          <a:ln w="12700">
            <a:solidFill>
              <a:srgbClr val="E8002D"/>
            </a:solidFill>
            <a:prstDash val="solid"/>
          </a:ln>
        </p:spPr>
        <p:txBody>
          <a:bodyPr/>
          <a:lstStyle/>
          <a:p>
            <a:endParaRPr lang="en-US"/>
          </a:p>
        </p:txBody>
      </p:sp>
      <p:sp>
        <p:nvSpPr>
          <p:cNvPr id="11" name="Text 8"/>
          <p:cNvSpPr/>
          <p:nvPr/>
        </p:nvSpPr>
        <p:spPr>
          <a:xfrm>
            <a:off x="5806440" y="2221992"/>
            <a:ext cx="3017520" cy="384048"/>
          </a:xfrm>
          <a:prstGeom prst="rect">
            <a:avLst/>
          </a:prstGeom>
          <a:noFill/>
          <a:ln/>
        </p:spPr>
        <p:txBody>
          <a:bodyPr wrap="square" lIns="0" tIns="0" rIns="0" bIns="0" rtlCol="0" anchor="ctr"/>
          <a:lstStyle/>
          <a:p>
            <a:pPr marL="0" indent="0">
              <a:buNone/>
            </a:pPr>
            <a:r>
              <a:rPr lang="en-US" sz="2800" b="1" dirty="0">
                <a:solidFill>
                  <a:srgbClr val="E8002D"/>
                </a:solidFill>
                <a:latin typeface="Arial Black" pitchFamily="34" charset="0"/>
                <a:ea typeface="Arial Black" pitchFamily="34" charset="-122"/>
                <a:cs typeface="Arial Black" pitchFamily="34" charset="-120"/>
              </a:rPr>
              <a:t>0.931</a:t>
            </a:r>
            <a:endParaRPr lang="en-US" sz="2800" dirty="0"/>
          </a:p>
        </p:txBody>
      </p:sp>
      <p:sp>
        <p:nvSpPr>
          <p:cNvPr id="12" name="Text 9"/>
          <p:cNvSpPr/>
          <p:nvPr/>
        </p:nvSpPr>
        <p:spPr>
          <a:xfrm>
            <a:off x="5806440" y="2651760"/>
            <a:ext cx="3017520" cy="256032"/>
          </a:xfrm>
          <a:prstGeom prst="rect">
            <a:avLst/>
          </a:prstGeom>
          <a:noFill/>
          <a:ln/>
        </p:spPr>
        <p:txBody>
          <a:bodyPr wrap="square" lIns="0" tIns="0" rIns="0" bIns="0" rtlCol="0" anchor="ctr"/>
          <a:lstStyle/>
          <a:p>
            <a:pPr marL="0" indent="0">
              <a:buNone/>
            </a:pPr>
            <a:r>
              <a:rPr lang="en-US" sz="1000" dirty="0">
                <a:solidFill>
                  <a:srgbClr val="8888AA"/>
                </a:solidFill>
                <a:latin typeface="Calibri" pitchFamily="34" charset="0"/>
                <a:ea typeface="Calibri" pitchFamily="34" charset="-122"/>
                <a:cs typeface="Calibri" pitchFamily="34" charset="-120"/>
              </a:rPr>
              <a:t>Decision Tree AUC</a:t>
            </a:r>
            <a:endParaRPr lang="en-US" sz="1000" dirty="0"/>
          </a:p>
        </p:txBody>
      </p:sp>
      <p:sp>
        <p:nvSpPr>
          <p:cNvPr id="13" name="Shape 10"/>
          <p:cNvSpPr/>
          <p:nvPr/>
        </p:nvSpPr>
        <p:spPr>
          <a:xfrm>
            <a:off x="5669280" y="3200400"/>
            <a:ext cx="3200400" cy="868680"/>
          </a:xfrm>
          <a:prstGeom prst="rect">
            <a:avLst/>
          </a:prstGeom>
          <a:solidFill>
            <a:srgbClr val="252535"/>
          </a:solidFill>
          <a:ln w="12700">
            <a:solidFill>
              <a:srgbClr val="383858"/>
            </a:solidFill>
            <a:prstDash val="solid"/>
          </a:ln>
        </p:spPr>
        <p:txBody>
          <a:bodyPr/>
          <a:lstStyle/>
          <a:p>
            <a:endParaRPr lang="en-US"/>
          </a:p>
        </p:txBody>
      </p:sp>
      <p:sp>
        <p:nvSpPr>
          <p:cNvPr id="14" name="Shape 11"/>
          <p:cNvSpPr/>
          <p:nvPr/>
        </p:nvSpPr>
        <p:spPr>
          <a:xfrm>
            <a:off x="5669280" y="3200400"/>
            <a:ext cx="54864" cy="868680"/>
          </a:xfrm>
          <a:prstGeom prst="rect">
            <a:avLst/>
          </a:prstGeom>
          <a:solidFill>
            <a:srgbClr val="4ACF8A"/>
          </a:solidFill>
          <a:ln w="12700">
            <a:solidFill>
              <a:srgbClr val="4ACF8A"/>
            </a:solidFill>
            <a:prstDash val="solid"/>
          </a:ln>
        </p:spPr>
        <p:txBody>
          <a:bodyPr/>
          <a:lstStyle/>
          <a:p>
            <a:endParaRPr lang="en-US"/>
          </a:p>
        </p:txBody>
      </p:sp>
      <p:sp>
        <p:nvSpPr>
          <p:cNvPr id="15" name="Text 12"/>
          <p:cNvSpPr/>
          <p:nvPr/>
        </p:nvSpPr>
        <p:spPr>
          <a:xfrm>
            <a:off x="5806440" y="3273552"/>
            <a:ext cx="3017520" cy="384048"/>
          </a:xfrm>
          <a:prstGeom prst="rect">
            <a:avLst/>
          </a:prstGeom>
          <a:noFill/>
          <a:ln/>
        </p:spPr>
        <p:txBody>
          <a:bodyPr wrap="square" lIns="0" tIns="0" rIns="0" bIns="0" rtlCol="0" anchor="ctr"/>
          <a:lstStyle/>
          <a:p>
            <a:pPr marL="0" indent="0">
              <a:buNone/>
            </a:pPr>
            <a:r>
              <a:rPr lang="en-US" sz="2800" b="1" dirty="0">
                <a:solidFill>
                  <a:srgbClr val="4ACF8A"/>
                </a:solidFill>
                <a:latin typeface="Arial Black" pitchFamily="34" charset="0"/>
                <a:ea typeface="Arial Black" pitchFamily="34" charset="-122"/>
                <a:cs typeface="Arial Black" pitchFamily="34" charset="-120"/>
              </a:rPr>
              <a:t>0.938</a:t>
            </a:r>
            <a:endParaRPr lang="en-US" sz="2800" dirty="0"/>
          </a:p>
        </p:txBody>
      </p:sp>
      <p:sp>
        <p:nvSpPr>
          <p:cNvPr id="16" name="Text 13"/>
          <p:cNvSpPr/>
          <p:nvPr/>
        </p:nvSpPr>
        <p:spPr>
          <a:xfrm>
            <a:off x="5806440" y="3703320"/>
            <a:ext cx="3017520" cy="256032"/>
          </a:xfrm>
          <a:prstGeom prst="rect">
            <a:avLst/>
          </a:prstGeom>
          <a:noFill/>
          <a:ln/>
        </p:spPr>
        <p:txBody>
          <a:bodyPr wrap="square" lIns="0" tIns="0" rIns="0" bIns="0" rtlCol="0" anchor="ctr"/>
          <a:lstStyle/>
          <a:p>
            <a:pPr marL="0" indent="0">
              <a:buNone/>
            </a:pPr>
            <a:r>
              <a:rPr lang="en-US" sz="1000" dirty="0">
                <a:solidFill>
                  <a:srgbClr val="8888AA"/>
                </a:solidFill>
                <a:latin typeface="Calibri" pitchFamily="34" charset="0"/>
                <a:ea typeface="Calibri" pitchFamily="34" charset="-122"/>
                <a:cs typeface="Calibri" pitchFamily="34" charset="-120"/>
              </a:rPr>
              <a:t>Random Forest AUC</a:t>
            </a:r>
            <a:endParaRPr lang="en-US" sz="1000" dirty="0"/>
          </a:p>
        </p:txBody>
      </p:sp>
      <p:sp>
        <p:nvSpPr>
          <p:cNvPr id="17" name="Shape 14"/>
          <p:cNvSpPr/>
          <p:nvPr/>
        </p:nvSpPr>
        <p:spPr>
          <a:xfrm>
            <a:off x="5669280" y="4251960"/>
            <a:ext cx="3200400" cy="640080"/>
          </a:xfrm>
          <a:prstGeom prst="rect">
            <a:avLst/>
          </a:prstGeom>
          <a:solidFill>
            <a:srgbClr val="1A1A2E"/>
          </a:solidFill>
          <a:ln w="12700">
            <a:solidFill>
              <a:srgbClr val="383858"/>
            </a:solidFill>
            <a:prstDash val="solid"/>
          </a:ln>
        </p:spPr>
        <p:txBody>
          <a:bodyPr/>
          <a:lstStyle/>
          <a:p>
            <a:endParaRPr lang="en-US"/>
          </a:p>
        </p:txBody>
      </p:sp>
      <p:sp>
        <p:nvSpPr>
          <p:cNvPr id="18" name="Text 15"/>
          <p:cNvSpPr/>
          <p:nvPr/>
        </p:nvSpPr>
        <p:spPr>
          <a:xfrm>
            <a:off x="5715000" y="4251960"/>
            <a:ext cx="3108960" cy="640080"/>
          </a:xfrm>
          <a:prstGeom prst="rect">
            <a:avLst/>
          </a:prstGeom>
          <a:noFill/>
          <a:ln/>
        </p:spPr>
        <p:txBody>
          <a:bodyPr wrap="square" lIns="63500" tIns="63500" rIns="63500" bIns="63500" rtlCol="0" anchor="ctr"/>
          <a:lstStyle/>
          <a:p>
            <a:r>
              <a:rPr lang="en-US" sz="1000" dirty="0">
                <a:solidFill>
                  <a:srgbClr val="C8C8C8"/>
                </a:solidFill>
                <a:latin typeface="Calibri" pitchFamily="34" charset="0"/>
                <a:ea typeface="Calibri" pitchFamily="34" charset="-122"/>
                <a:cs typeface="Calibri" pitchFamily="34" charset="-120"/>
              </a:rPr>
              <a:t>All three models score ~0.93 AUC </a:t>
            </a:r>
          </a:p>
          <a:p>
            <a:r>
              <a:rPr lang="en-US" sz="1000" dirty="0">
                <a:solidFill>
                  <a:srgbClr val="C8C8C8"/>
                </a:solidFill>
                <a:latin typeface="Calibri" pitchFamily="34" charset="0"/>
                <a:ea typeface="Calibri" pitchFamily="34" charset="-122"/>
                <a:cs typeface="Calibri" pitchFamily="34" charset="-120"/>
              </a:rPr>
              <a:t>Observation: the interpretable Decision Tree closes the gap to within 0.007 of the ensemble.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151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002D"/>
          </a:solidFill>
          <a:ln w="12700">
            <a:solidFill>
              <a:srgbClr val="E8002D"/>
            </a:solidFill>
            <a:prstDash val="solid"/>
          </a:ln>
        </p:spPr>
        <p:txBody>
          <a:bodyPr/>
          <a:lstStyle/>
          <a:p>
            <a:endParaRPr lang="en-US"/>
          </a:p>
        </p:txBody>
      </p:sp>
      <p:sp>
        <p:nvSpPr>
          <p:cNvPr id="3" name="Text 1"/>
          <p:cNvSpPr/>
          <p:nvPr/>
        </p:nvSpPr>
        <p:spPr>
          <a:xfrm>
            <a:off x="365760" y="228600"/>
            <a:ext cx="8229600" cy="457200"/>
          </a:xfrm>
          <a:prstGeom prst="rect">
            <a:avLst/>
          </a:prstGeom>
          <a:noFill/>
          <a:ln/>
        </p:spPr>
        <p:txBody>
          <a:bodyPr wrap="square" lIns="0" tIns="0" rIns="0" bIns="0" rtlCol="0" anchor="ctr"/>
          <a:lstStyle/>
          <a:p>
            <a:pPr marL="0" indent="0">
              <a:buNone/>
            </a:pPr>
            <a:r>
              <a:rPr lang="en-US" sz="2600" b="1" dirty="0">
                <a:solidFill>
                  <a:srgbClr val="FFFFFF"/>
                </a:solidFill>
                <a:latin typeface="Arial Black" pitchFamily="34" charset="0"/>
                <a:ea typeface="Arial Black" pitchFamily="34" charset="-122"/>
                <a:cs typeface="Arial Black" pitchFamily="34" charset="-120"/>
              </a:rPr>
              <a:t>Overfitting Investigation</a:t>
            </a:r>
            <a:endParaRPr lang="en-US" sz="2600" dirty="0"/>
          </a:p>
        </p:txBody>
      </p:sp>
      <p:pic>
        <p:nvPicPr>
          <p:cNvPr id="4" name="Image 0" descr="/home/claude/bias_variance.png"/>
          <p:cNvPicPr>
            <a:picLocks noChangeAspect="1"/>
          </p:cNvPicPr>
          <p:nvPr/>
        </p:nvPicPr>
        <p:blipFill>
          <a:blip r:embed="rId3"/>
          <a:stretch>
            <a:fillRect/>
          </a:stretch>
        </p:blipFill>
        <p:spPr>
          <a:xfrm>
            <a:off x="274320" y="777240"/>
            <a:ext cx="5669280" cy="3200400"/>
          </a:xfrm>
          <a:prstGeom prst="rect">
            <a:avLst/>
          </a:prstGeom>
        </p:spPr>
      </p:pic>
      <p:sp>
        <p:nvSpPr>
          <p:cNvPr id="5" name="Shape 2"/>
          <p:cNvSpPr/>
          <p:nvPr/>
        </p:nvSpPr>
        <p:spPr>
          <a:xfrm>
            <a:off x="6217920" y="914400"/>
            <a:ext cx="2743200" cy="868680"/>
          </a:xfrm>
          <a:prstGeom prst="rect">
            <a:avLst/>
          </a:prstGeom>
          <a:solidFill>
            <a:srgbClr val="252535"/>
          </a:solidFill>
          <a:ln w="12700">
            <a:solidFill>
              <a:srgbClr val="383858"/>
            </a:solidFill>
            <a:prstDash val="solid"/>
          </a:ln>
        </p:spPr>
        <p:txBody>
          <a:bodyPr/>
          <a:lstStyle/>
          <a:p>
            <a:endParaRPr lang="en-US"/>
          </a:p>
        </p:txBody>
      </p:sp>
      <p:sp>
        <p:nvSpPr>
          <p:cNvPr id="6" name="Shape 3"/>
          <p:cNvSpPr/>
          <p:nvPr/>
        </p:nvSpPr>
        <p:spPr>
          <a:xfrm>
            <a:off x="6217920" y="914400"/>
            <a:ext cx="54864" cy="868680"/>
          </a:xfrm>
          <a:prstGeom prst="rect">
            <a:avLst/>
          </a:prstGeom>
          <a:solidFill>
            <a:srgbClr val="4A9EFF"/>
          </a:solidFill>
          <a:ln w="12700">
            <a:solidFill>
              <a:srgbClr val="4A9EFF"/>
            </a:solidFill>
            <a:prstDash val="solid"/>
          </a:ln>
        </p:spPr>
        <p:txBody>
          <a:bodyPr/>
          <a:lstStyle/>
          <a:p>
            <a:endParaRPr lang="en-US"/>
          </a:p>
        </p:txBody>
      </p:sp>
      <p:sp>
        <p:nvSpPr>
          <p:cNvPr id="7" name="Text 4"/>
          <p:cNvSpPr/>
          <p:nvPr/>
        </p:nvSpPr>
        <p:spPr>
          <a:xfrm>
            <a:off x="6355080" y="978408"/>
            <a:ext cx="2560320" cy="256032"/>
          </a:xfrm>
          <a:prstGeom prst="rect">
            <a:avLst/>
          </a:prstGeom>
          <a:noFill/>
          <a:ln/>
        </p:spPr>
        <p:txBody>
          <a:bodyPr wrap="square" lIns="0" tIns="0" rIns="0" bIns="0" rtlCol="0" anchor="ctr"/>
          <a:lstStyle/>
          <a:p>
            <a:pPr marL="0" indent="0">
              <a:buNone/>
            </a:pPr>
            <a:r>
              <a:rPr lang="en-US" sz="1100" b="1" dirty="0">
                <a:solidFill>
                  <a:srgbClr val="4A9EFF"/>
                </a:solidFill>
                <a:latin typeface="Calibri" pitchFamily="34" charset="0"/>
                <a:ea typeface="Calibri" pitchFamily="34" charset="-122"/>
                <a:cs typeface="Calibri" pitchFamily="34" charset="-120"/>
              </a:rPr>
              <a:t>Depth 1–2</a:t>
            </a:r>
            <a:endParaRPr lang="en-US" sz="1100" dirty="0"/>
          </a:p>
        </p:txBody>
      </p:sp>
      <p:sp>
        <p:nvSpPr>
          <p:cNvPr id="8" name="Text 5"/>
          <p:cNvSpPr/>
          <p:nvPr/>
        </p:nvSpPr>
        <p:spPr>
          <a:xfrm>
            <a:off x="6355080" y="1261872"/>
            <a:ext cx="2560320" cy="420624"/>
          </a:xfrm>
          <a:prstGeom prst="rect">
            <a:avLst/>
          </a:prstGeom>
          <a:noFill/>
          <a:ln/>
        </p:spPr>
        <p:txBody>
          <a:bodyPr wrap="square" lIns="0" tIns="0" rIns="0" bIns="0" rtlCol="0" anchor="ctr"/>
          <a:lstStyle/>
          <a:p>
            <a:r>
              <a:rPr lang="en-US" sz="1000" dirty="0">
                <a:solidFill>
                  <a:srgbClr val="C8C8C8"/>
                </a:solidFill>
                <a:latin typeface="Calibri" pitchFamily="34" charset="0"/>
                <a:ea typeface="Calibri" pitchFamily="34" charset="-122"/>
                <a:cs typeface="Calibri" pitchFamily="34" charset="-120"/>
              </a:rPr>
              <a:t>High bias. The model is too constrained to capture real patterns.</a:t>
            </a:r>
            <a:endParaRPr lang="en-US" sz="1000" dirty="0"/>
          </a:p>
        </p:txBody>
      </p:sp>
      <p:sp>
        <p:nvSpPr>
          <p:cNvPr id="9" name="Shape 6"/>
          <p:cNvSpPr/>
          <p:nvPr/>
        </p:nvSpPr>
        <p:spPr>
          <a:xfrm>
            <a:off x="6217920" y="1938528"/>
            <a:ext cx="2743200" cy="868680"/>
          </a:xfrm>
          <a:prstGeom prst="rect">
            <a:avLst/>
          </a:prstGeom>
          <a:solidFill>
            <a:srgbClr val="252535"/>
          </a:solidFill>
          <a:ln w="12700">
            <a:solidFill>
              <a:srgbClr val="383858"/>
            </a:solidFill>
            <a:prstDash val="solid"/>
          </a:ln>
        </p:spPr>
        <p:txBody>
          <a:bodyPr/>
          <a:lstStyle/>
          <a:p>
            <a:endParaRPr lang="en-US"/>
          </a:p>
        </p:txBody>
      </p:sp>
      <p:sp>
        <p:nvSpPr>
          <p:cNvPr id="10" name="Shape 7"/>
          <p:cNvSpPr/>
          <p:nvPr/>
        </p:nvSpPr>
        <p:spPr>
          <a:xfrm>
            <a:off x="6217920" y="1938528"/>
            <a:ext cx="54864" cy="868680"/>
          </a:xfrm>
          <a:prstGeom prst="rect">
            <a:avLst/>
          </a:prstGeom>
          <a:solidFill>
            <a:srgbClr val="E8002D"/>
          </a:solidFill>
          <a:ln w="12700">
            <a:solidFill>
              <a:srgbClr val="E8002D"/>
            </a:solidFill>
            <a:prstDash val="solid"/>
          </a:ln>
        </p:spPr>
        <p:txBody>
          <a:bodyPr/>
          <a:lstStyle/>
          <a:p>
            <a:endParaRPr lang="en-US"/>
          </a:p>
        </p:txBody>
      </p:sp>
      <p:sp>
        <p:nvSpPr>
          <p:cNvPr id="11" name="Text 8"/>
          <p:cNvSpPr/>
          <p:nvPr/>
        </p:nvSpPr>
        <p:spPr>
          <a:xfrm>
            <a:off x="6355080" y="2002536"/>
            <a:ext cx="2560320" cy="256032"/>
          </a:xfrm>
          <a:prstGeom prst="rect">
            <a:avLst/>
          </a:prstGeom>
          <a:noFill/>
          <a:ln/>
        </p:spPr>
        <p:txBody>
          <a:bodyPr wrap="square" lIns="0" tIns="0" rIns="0" bIns="0" rtlCol="0" anchor="ctr"/>
          <a:lstStyle/>
          <a:p>
            <a:pPr marL="0" indent="0">
              <a:buNone/>
            </a:pPr>
            <a:r>
              <a:rPr lang="en-US" sz="1100" b="1" dirty="0">
                <a:solidFill>
                  <a:srgbClr val="E8002D"/>
                </a:solidFill>
                <a:latin typeface="Calibri" pitchFamily="34" charset="0"/>
                <a:ea typeface="Calibri" pitchFamily="34" charset="-122"/>
                <a:cs typeface="Calibri" pitchFamily="34" charset="-120"/>
              </a:rPr>
              <a:t>Depth 4 ← our model</a:t>
            </a:r>
            <a:endParaRPr lang="en-US" sz="1100" dirty="0"/>
          </a:p>
        </p:txBody>
      </p:sp>
      <p:sp>
        <p:nvSpPr>
          <p:cNvPr id="12" name="Text 9"/>
          <p:cNvSpPr/>
          <p:nvPr/>
        </p:nvSpPr>
        <p:spPr>
          <a:xfrm>
            <a:off x="6355080" y="2286000"/>
            <a:ext cx="2560320" cy="420624"/>
          </a:xfrm>
          <a:prstGeom prst="rect">
            <a:avLst/>
          </a:prstGeom>
          <a:noFill/>
          <a:ln/>
        </p:spPr>
        <p:txBody>
          <a:bodyPr wrap="square" lIns="0" tIns="0" rIns="0" bIns="0" rtlCol="0" anchor="ctr"/>
          <a:lstStyle/>
          <a:p>
            <a:r>
              <a:rPr lang="en-US" sz="1000" dirty="0">
                <a:solidFill>
                  <a:srgbClr val="C8C8C8"/>
                </a:solidFill>
                <a:latin typeface="Calibri" pitchFamily="34" charset="0"/>
                <a:ea typeface="Calibri" pitchFamily="34" charset="-122"/>
                <a:cs typeface="Calibri" pitchFamily="34" charset="-120"/>
              </a:rPr>
              <a:t>Train and test accuracy converge. Optimal </a:t>
            </a:r>
            <a:r>
              <a:rPr lang="en-US" sz="1000" dirty="0" err="1">
                <a:solidFill>
                  <a:srgbClr val="C8C8C8"/>
                </a:solidFill>
                <a:latin typeface="Calibri" pitchFamily="34" charset="0"/>
                <a:ea typeface="Calibri" pitchFamily="34" charset="-122"/>
                <a:cs typeface="Calibri" pitchFamily="34" charset="-120"/>
              </a:rPr>
              <a:t>generalisation</a:t>
            </a:r>
            <a:r>
              <a:rPr lang="en-US" sz="1000" dirty="0">
                <a:solidFill>
                  <a:srgbClr val="C8C8C8"/>
                </a:solidFill>
                <a:latin typeface="Calibri" pitchFamily="34" charset="0"/>
                <a:ea typeface="Calibri" pitchFamily="34" charset="-122"/>
                <a:cs typeface="Calibri" pitchFamily="34" charset="-120"/>
              </a:rPr>
              <a:t> point.</a:t>
            </a:r>
            <a:endParaRPr lang="en-US" sz="1000" dirty="0"/>
          </a:p>
        </p:txBody>
      </p:sp>
      <p:sp>
        <p:nvSpPr>
          <p:cNvPr id="13" name="Shape 10"/>
          <p:cNvSpPr/>
          <p:nvPr/>
        </p:nvSpPr>
        <p:spPr>
          <a:xfrm>
            <a:off x="6217920" y="2962656"/>
            <a:ext cx="2743200" cy="868680"/>
          </a:xfrm>
          <a:prstGeom prst="rect">
            <a:avLst/>
          </a:prstGeom>
          <a:solidFill>
            <a:srgbClr val="252535"/>
          </a:solidFill>
          <a:ln w="12700">
            <a:solidFill>
              <a:srgbClr val="383858"/>
            </a:solidFill>
            <a:prstDash val="solid"/>
          </a:ln>
        </p:spPr>
        <p:txBody>
          <a:bodyPr/>
          <a:lstStyle/>
          <a:p>
            <a:endParaRPr lang="en-US"/>
          </a:p>
        </p:txBody>
      </p:sp>
      <p:sp>
        <p:nvSpPr>
          <p:cNvPr id="14" name="Shape 11"/>
          <p:cNvSpPr/>
          <p:nvPr/>
        </p:nvSpPr>
        <p:spPr>
          <a:xfrm>
            <a:off x="6217920" y="2962656"/>
            <a:ext cx="54864" cy="868680"/>
          </a:xfrm>
          <a:prstGeom prst="rect">
            <a:avLst/>
          </a:prstGeom>
          <a:solidFill>
            <a:srgbClr val="FF9F4A"/>
          </a:solidFill>
          <a:ln w="12700">
            <a:solidFill>
              <a:srgbClr val="FF9F4A"/>
            </a:solidFill>
            <a:prstDash val="solid"/>
          </a:ln>
        </p:spPr>
        <p:txBody>
          <a:bodyPr/>
          <a:lstStyle/>
          <a:p>
            <a:endParaRPr lang="en-US"/>
          </a:p>
        </p:txBody>
      </p:sp>
      <p:sp>
        <p:nvSpPr>
          <p:cNvPr id="15" name="Text 12"/>
          <p:cNvSpPr/>
          <p:nvPr/>
        </p:nvSpPr>
        <p:spPr>
          <a:xfrm>
            <a:off x="6355080" y="3026664"/>
            <a:ext cx="2560320" cy="256032"/>
          </a:xfrm>
          <a:prstGeom prst="rect">
            <a:avLst/>
          </a:prstGeom>
          <a:noFill/>
          <a:ln/>
        </p:spPr>
        <p:txBody>
          <a:bodyPr wrap="square" lIns="0" tIns="0" rIns="0" bIns="0" rtlCol="0" anchor="ctr"/>
          <a:lstStyle/>
          <a:p>
            <a:pPr marL="0" indent="0">
              <a:buNone/>
            </a:pPr>
            <a:r>
              <a:rPr lang="en-US" sz="1100" b="1" dirty="0">
                <a:solidFill>
                  <a:srgbClr val="FF9F4A"/>
                </a:solidFill>
                <a:latin typeface="Calibri" pitchFamily="34" charset="0"/>
                <a:ea typeface="Calibri" pitchFamily="34" charset="-122"/>
                <a:cs typeface="Calibri" pitchFamily="34" charset="-120"/>
              </a:rPr>
              <a:t>Depth 8+</a:t>
            </a:r>
            <a:endParaRPr lang="en-US" sz="1100" dirty="0"/>
          </a:p>
        </p:txBody>
      </p:sp>
      <p:sp>
        <p:nvSpPr>
          <p:cNvPr id="16" name="Text 13"/>
          <p:cNvSpPr/>
          <p:nvPr/>
        </p:nvSpPr>
        <p:spPr>
          <a:xfrm>
            <a:off x="6355080" y="3310128"/>
            <a:ext cx="2560320" cy="420624"/>
          </a:xfrm>
          <a:prstGeom prst="rect">
            <a:avLst/>
          </a:prstGeom>
          <a:noFill/>
          <a:ln/>
        </p:spPr>
        <p:txBody>
          <a:bodyPr wrap="square" lIns="0" tIns="0" rIns="0" bIns="0" rtlCol="0" anchor="ctr"/>
          <a:lstStyle/>
          <a:p>
            <a:r>
              <a:rPr lang="en-US" sz="1000" dirty="0">
                <a:solidFill>
                  <a:srgbClr val="C8C8C8"/>
                </a:solidFill>
                <a:latin typeface="Calibri" pitchFamily="34" charset="0"/>
                <a:ea typeface="Calibri" pitchFamily="34" charset="-122"/>
                <a:cs typeface="Calibri" pitchFamily="34" charset="-120"/>
              </a:rPr>
              <a:t>Training accuracy climbs but test accuracy drops. The model </a:t>
            </a:r>
            <a:r>
              <a:rPr lang="en-US" sz="1000" dirty="0" err="1">
                <a:solidFill>
                  <a:srgbClr val="C8C8C8"/>
                </a:solidFill>
                <a:latin typeface="Calibri" pitchFamily="34" charset="0"/>
                <a:ea typeface="Calibri" pitchFamily="34" charset="-122"/>
                <a:cs typeface="Calibri" pitchFamily="34" charset="-120"/>
              </a:rPr>
              <a:t>memorises</a:t>
            </a:r>
            <a:r>
              <a:rPr lang="en-US" sz="1000" dirty="0">
                <a:solidFill>
                  <a:srgbClr val="C8C8C8"/>
                </a:solidFill>
                <a:latin typeface="Calibri" pitchFamily="34" charset="0"/>
                <a:ea typeface="Calibri" pitchFamily="34" charset="-122"/>
                <a:cs typeface="Calibri" pitchFamily="34" charset="-120"/>
              </a:rPr>
              <a:t> training data.</a:t>
            </a:r>
            <a:endParaRPr lang="en-US" sz="1000" dirty="0"/>
          </a:p>
        </p:txBody>
      </p:sp>
      <p:sp>
        <p:nvSpPr>
          <p:cNvPr id="17" name="Shape 14"/>
          <p:cNvSpPr/>
          <p:nvPr/>
        </p:nvSpPr>
        <p:spPr>
          <a:xfrm>
            <a:off x="320040" y="4114800"/>
            <a:ext cx="8503920" cy="841248"/>
          </a:xfrm>
          <a:prstGeom prst="rect">
            <a:avLst/>
          </a:prstGeom>
          <a:solidFill>
            <a:srgbClr val="252535"/>
          </a:solidFill>
          <a:ln w="12700">
            <a:solidFill>
              <a:srgbClr val="383858"/>
            </a:solidFill>
            <a:prstDash val="solid"/>
          </a:ln>
        </p:spPr>
        <p:txBody>
          <a:bodyPr/>
          <a:lstStyle/>
          <a:p>
            <a:endParaRPr lang="en-US"/>
          </a:p>
        </p:txBody>
      </p:sp>
      <p:sp>
        <p:nvSpPr>
          <p:cNvPr id="18" name="Shape 15"/>
          <p:cNvSpPr/>
          <p:nvPr/>
        </p:nvSpPr>
        <p:spPr>
          <a:xfrm>
            <a:off x="320040" y="4114800"/>
            <a:ext cx="54864" cy="841248"/>
          </a:xfrm>
          <a:prstGeom prst="rect">
            <a:avLst/>
          </a:prstGeom>
          <a:solidFill>
            <a:srgbClr val="E8002D"/>
          </a:solidFill>
          <a:ln w="12700">
            <a:solidFill>
              <a:srgbClr val="E8002D"/>
            </a:solidFill>
            <a:prstDash val="solid"/>
          </a:ln>
        </p:spPr>
        <p:txBody>
          <a:bodyPr/>
          <a:lstStyle/>
          <a:p>
            <a:endParaRPr lang="en-US"/>
          </a:p>
        </p:txBody>
      </p:sp>
      <p:sp>
        <p:nvSpPr>
          <p:cNvPr id="19" name="Text 16"/>
          <p:cNvSpPr/>
          <p:nvPr/>
        </p:nvSpPr>
        <p:spPr>
          <a:xfrm>
            <a:off x="457200" y="4114800"/>
            <a:ext cx="8321040" cy="841248"/>
          </a:xfrm>
          <a:prstGeom prst="rect">
            <a:avLst/>
          </a:prstGeom>
          <a:noFill/>
          <a:ln/>
        </p:spPr>
        <p:txBody>
          <a:bodyPr wrap="square" lIns="63500" tIns="63500" rIns="63500" bIns="63500" rtlCol="0" anchor="ctr"/>
          <a:lstStyle/>
          <a:p>
            <a:pPr marL="0" indent="0">
              <a:buNone/>
            </a:pPr>
            <a:r>
              <a:rPr lang="en-US" sz="1100" dirty="0">
                <a:solidFill>
                  <a:srgbClr val="C8C8C8"/>
                </a:solidFill>
                <a:latin typeface="Calibri" pitchFamily="34" charset="0"/>
                <a:ea typeface="Calibri" pitchFamily="34" charset="-122"/>
                <a:cs typeface="Calibri" pitchFamily="34" charset="-120"/>
              </a:rPr>
              <a:t>Takeaway: As depth increases, training accuracy keeps climbing. Test accuracy peaks around depth 4 then falls. This is the bias–variance trade-off playing out in real data.</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151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002D"/>
          </a:solidFill>
          <a:ln w="12700">
            <a:solidFill>
              <a:srgbClr val="E8002D"/>
            </a:solidFill>
            <a:prstDash val="solid"/>
          </a:ln>
        </p:spPr>
        <p:txBody>
          <a:bodyPr/>
          <a:lstStyle/>
          <a:p>
            <a:endParaRPr lang="en-US"/>
          </a:p>
        </p:txBody>
      </p:sp>
      <p:sp>
        <p:nvSpPr>
          <p:cNvPr id="3" name="Text 1"/>
          <p:cNvSpPr/>
          <p:nvPr/>
        </p:nvSpPr>
        <p:spPr>
          <a:xfrm>
            <a:off x="365760" y="228600"/>
            <a:ext cx="8503920" cy="502920"/>
          </a:xfrm>
          <a:prstGeom prst="rect">
            <a:avLst/>
          </a:prstGeom>
          <a:noFill/>
          <a:ln/>
        </p:spPr>
        <p:txBody>
          <a:bodyPr wrap="square" lIns="0" tIns="0" rIns="0" bIns="0"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Key Insights</a:t>
            </a:r>
            <a:endParaRPr lang="en-US" sz="2800" dirty="0"/>
          </a:p>
        </p:txBody>
      </p:sp>
      <p:sp>
        <p:nvSpPr>
          <p:cNvPr id="4" name="Shape 2"/>
          <p:cNvSpPr/>
          <p:nvPr/>
        </p:nvSpPr>
        <p:spPr>
          <a:xfrm>
            <a:off x="320040" y="960120"/>
            <a:ext cx="4206240" cy="1691640"/>
          </a:xfrm>
          <a:prstGeom prst="rect">
            <a:avLst/>
          </a:prstGeom>
          <a:solidFill>
            <a:srgbClr val="252535"/>
          </a:solidFill>
          <a:ln w="12700">
            <a:solidFill>
              <a:srgbClr val="383858"/>
            </a:solidFill>
            <a:prstDash val="solid"/>
          </a:ln>
        </p:spPr>
        <p:txBody>
          <a:bodyPr/>
          <a:lstStyle/>
          <a:p>
            <a:endParaRPr lang="en-US"/>
          </a:p>
        </p:txBody>
      </p:sp>
      <p:sp>
        <p:nvSpPr>
          <p:cNvPr id="5" name="Shape 3"/>
          <p:cNvSpPr/>
          <p:nvPr/>
        </p:nvSpPr>
        <p:spPr>
          <a:xfrm>
            <a:off x="320040" y="960120"/>
            <a:ext cx="4206240" cy="54864"/>
          </a:xfrm>
          <a:prstGeom prst="rect">
            <a:avLst/>
          </a:prstGeom>
          <a:solidFill>
            <a:srgbClr val="E8002D"/>
          </a:solidFill>
          <a:ln w="12700">
            <a:solidFill>
              <a:srgbClr val="E8002D"/>
            </a:solidFill>
            <a:prstDash val="solid"/>
          </a:ln>
        </p:spPr>
        <p:txBody>
          <a:bodyPr/>
          <a:lstStyle/>
          <a:p>
            <a:endParaRPr lang="en-US"/>
          </a:p>
        </p:txBody>
      </p:sp>
      <p:sp>
        <p:nvSpPr>
          <p:cNvPr id="6" name="Text 4"/>
          <p:cNvSpPr/>
          <p:nvPr/>
        </p:nvSpPr>
        <p:spPr>
          <a:xfrm>
            <a:off x="484632" y="1124712"/>
            <a:ext cx="502920" cy="438912"/>
          </a:xfrm>
          <a:prstGeom prst="rect">
            <a:avLst/>
          </a:prstGeom>
          <a:noFill/>
          <a:ln/>
        </p:spPr>
        <p:txBody>
          <a:bodyPr wrap="square" lIns="0" tIns="0" rIns="0" bIns="0" rtlCol="0" anchor="ctr"/>
          <a:lstStyle/>
          <a:p>
            <a:pPr marL="0" indent="0">
              <a:buNone/>
            </a:pPr>
            <a:r>
              <a:rPr lang="en-US" sz="2800" b="1" dirty="0">
                <a:solidFill>
                  <a:srgbClr val="E8002D"/>
                </a:solidFill>
                <a:latin typeface="Arial Black" pitchFamily="34" charset="0"/>
                <a:ea typeface="Arial Black" pitchFamily="34" charset="-122"/>
                <a:cs typeface="Arial Black" pitchFamily="34" charset="-120"/>
              </a:rPr>
              <a:t>01</a:t>
            </a:r>
            <a:endParaRPr lang="en-US" sz="2800" dirty="0"/>
          </a:p>
        </p:txBody>
      </p:sp>
      <p:sp>
        <p:nvSpPr>
          <p:cNvPr id="7" name="Text 5"/>
          <p:cNvSpPr/>
          <p:nvPr/>
        </p:nvSpPr>
        <p:spPr>
          <a:xfrm>
            <a:off x="484632" y="1554480"/>
            <a:ext cx="393192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Qualifying dominates</a:t>
            </a:r>
            <a:endParaRPr lang="en-US" sz="1300" dirty="0"/>
          </a:p>
        </p:txBody>
      </p:sp>
      <p:sp>
        <p:nvSpPr>
          <p:cNvPr id="8" name="Text 6"/>
          <p:cNvSpPr/>
          <p:nvPr/>
        </p:nvSpPr>
        <p:spPr>
          <a:xfrm>
            <a:off x="484632" y="1856232"/>
            <a:ext cx="3931920" cy="685800"/>
          </a:xfrm>
          <a:prstGeom prst="rect">
            <a:avLst/>
          </a:prstGeom>
          <a:noFill/>
          <a:ln/>
        </p:spPr>
        <p:txBody>
          <a:bodyPr wrap="square" lIns="0" tIns="0" rIns="0" bIns="0" rtlCol="0" anchor="ctr"/>
          <a:lstStyle/>
          <a:p>
            <a:r>
              <a:rPr lang="en-US" sz="1100" dirty="0" err="1">
                <a:solidFill>
                  <a:srgbClr val="C8C8C8"/>
                </a:solidFill>
                <a:latin typeface="Calibri" pitchFamily="34" charset="0"/>
                <a:ea typeface="Calibri" pitchFamily="34" charset="-122"/>
                <a:cs typeface="Calibri" pitchFamily="34" charset="-120"/>
              </a:rPr>
              <a:t>grid_position</a:t>
            </a:r>
            <a:r>
              <a:rPr lang="en-US" sz="1100" dirty="0">
                <a:solidFill>
                  <a:srgbClr val="C8C8C8"/>
                </a:solidFill>
                <a:latin typeface="Calibri" pitchFamily="34" charset="0"/>
                <a:ea typeface="Calibri" pitchFamily="34" charset="-122"/>
                <a:cs typeface="Calibri" pitchFamily="34" charset="-120"/>
              </a:rPr>
              <a:t> was the strongest predictor by a wide margin. The tree's root split at ≤ 4.5 alone accounts for the majority of correct classifications.</a:t>
            </a:r>
            <a:endParaRPr lang="en-US" sz="1100" dirty="0"/>
          </a:p>
        </p:txBody>
      </p:sp>
      <p:sp>
        <p:nvSpPr>
          <p:cNvPr id="9" name="Shape 7"/>
          <p:cNvSpPr/>
          <p:nvPr/>
        </p:nvSpPr>
        <p:spPr>
          <a:xfrm>
            <a:off x="4754880" y="960120"/>
            <a:ext cx="4206240" cy="1691640"/>
          </a:xfrm>
          <a:prstGeom prst="rect">
            <a:avLst/>
          </a:prstGeom>
          <a:solidFill>
            <a:srgbClr val="252535"/>
          </a:solidFill>
          <a:ln w="12700">
            <a:solidFill>
              <a:srgbClr val="383858"/>
            </a:solidFill>
            <a:prstDash val="solid"/>
          </a:ln>
        </p:spPr>
        <p:txBody>
          <a:bodyPr/>
          <a:lstStyle/>
          <a:p>
            <a:endParaRPr lang="en-US"/>
          </a:p>
        </p:txBody>
      </p:sp>
      <p:sp>
        <p:nvSpPr>
          <p:cNvPr id="10" name="Shape 8"/>
          <p:cNvSpPr/>
          <p:nvPr/>
        </p:nvSpPr>
        <p:spPr>
          <a:xfrm>
            <a:off x="4754880" y="960120"/>
            <a:ext cx="4206240" cy="54864"/>
          </a:xfrm>
          <a:prstGeom prst="rect">
            <a:avLst/>
          </a:prstGeom>
          <a:solidFill>
            <a:srgbClr val="E8002D"/>
          </a:solidFill>
          <a:ln w="12700">
            <a:solidFill>
              <a:srgbClr val="E8002D"/>
            </a:solidFill>
            <a:prstDash val="solid"/>
          </a:ln>
        </p:spPr>
        <p:txBody>
          <a:bodyPr/>
          <a:lstStyle/>
          <a:p>
            <a:endParaRPr lang="en-US"/>
          </a:p>
        </p:txBody>
      </p:sp>
      <p:sp>
        <p:nvSpPr>
          <p:cNvPr id="11" name="Text 9"/>
          <p:cNvSpPr/>
          <p:nvPr/>
        </p:nvSpPr>
        <p:spPr>
          <a:xfrm>
            <a:off x="4919472" y="1124712"/>
            <a:ext cx="502920" cy="438912"/>
          </a:xfrm>
          <a:prstGeom prst="rect">
            <a:avLst/>
          </a:prstGeom>
          <a:noFill/>
          <a:ln/>
        </p:spPr>
        <p:txBody>
          <a:bodyPr wrap="square" lIns="0" tIns="0" rIns="0" bIns="0" rtlCol="0" anchor="ctr"/>
          <a:lstStyle/>
          <a:p>
            <a:pPr marL="0" indent="0">
              <a:buNone/>
            </a:pPr>
            <a:r>
              <a:rPr lang="en-US" sz="2800" b="1" dirty="0">
                <a:solidFill>
                  <a:srgbClr val="E8002D"/>
                </a:solidFill>
                <a:latin typeface="Arial Black" pitchFamily="34" charset="0"/>
                <a:ea typeface="Arial Black" pitchFamily="34" charset="-122"/>
                <a:cs typeface="Arial Black" pitchFamily="34" charset="-120"/>
              </a:rPr>
              <a:t>02</a:t>
            </a:r>
            <a:endParaRPr lang="en-US" sz="2800" dirty="0"/>
          </a:p>
        </p:txBody>
      </p:sp>
      <p:sp>
        <p:nvSpPr>
          <p:cNvPr id="12" name="Text 10"/>
          <p:cNvSpPr/>
          <p:nvPr/>
        </p:nvSpPr>
        <p:spPr>
          <a:xfrm>
            <a:off x="4919472" y="1554480"/>
            <a:ext cx="3931920" cy="292608"/>
          </a:xfrm>
          <a:prstGeom prst="rect">
            <a:avLst/>
          </a:prstGeom>
          <a:noFill/>
          <a:ln/>
        </p:spPr>
        <p:txBody>
          <a:bodyPr wrap="square" lIns="0" tIns="0" rIns="0" bIns="0" rtlCol="0" anchor="ctr"/>
          <a:lstStyle/>
          <a:p>
            <a:r>
              <a:rPr lang="en-US" sz="1300" b="1" dirty="0">
                <a:solidFill>
                  <a:srgbClr val="FFFFFF"/>
                </a:solidFill>
                <a:latin typeface="Calibri" pitchFamily="34" charset="0"/>
                <a:ea typeface="Calibri" pitchFamily="34" charset="-122"/>
                <a:cs typeface="Calibri" pitchFamily="34" charset="-120"/>
              </a:rPr>
              <a:t>Driver form adds predictive signal</a:t>
            </a:r>
            <a:endParaRPr lang="en-US" sz="1300" dirty="0"/>
          </a:p>
        </p:txBody>
      </p:sp>
      <p:sp>
        <p:nvSpPr>
          <p:cNvPr id="13" name="Text 11"/>
          <p:cNvSpPr/>
          <p:nvPr/>
        </p:nvSpPr>
        <p:spPr>
          <a:xfrm>
            <a:off x="4919472" y="1856232"/>
            <a:ext cx="3931920" cy="685800"/>
          </a:xfrm>
          <a:prstGeom prst="rect">
            <a:avLst/>
          </a:prstGeom>
          <a:noFill/>
          <a:ln/>
        </p:spPr>
        <p:txBody>
          <a:bodyPr wrap="square" lIns="0" tIns="0" rIns="0" bIns="0" rtlCol="0" anchor="ctr"/>
          <a:lstStyle/>
          <a:p>
            <a:r>
              <a:rPr lang="en-US" sz="1100" dirty="0">
                <a:solidFill>
                  <a:srgbClr val="C8C8C8"/>
                </a:solidFill>
                <a:latin typeface="Calibri" pitchFamily="34" charset="0"/>
                <a:ea typeface="Calibri" pitchFamily="34" charset="-122"/>
                <a:cs typeface="Calibri" pitchFamily="34" charset="-120"/>
              </a:rPr>
              <a:t>rolling_pts_3 ranked second in importance. Recent points momentum meaningfully improves predictions beyond grid position alone.</a:t>
            </a:r>
            <a:endParaRPr lang="en-US" sz="1100" dirty="0"/>
          </a:p>
        </p:txBody>
      </p:sp>
      <p:sp>
        <p:nvSpPr>
          <p:cNvPr id="14" name="Shape 12"/>
          <p:cNvSpPr/>
          <p:nvPr/>
        </p:nvSpPr>
        <p:spPr>
          <a:xfrm>
            <a:off x="320040" y="2834640"/>
            <a:ext cx="4206240" cy="1691640"/>
          </a:xfrm>
          <a:prstGeom prst="rect">
            <a:avLst/>
          </a:prstGeom>
          <a:solidFill>
            <a:srgbClr val="252535"/>
          </a:solidFill>
          <a:ln w="12700">
            <a:solidFill>
              <a:srgbClr val="383858"/>
            </a:solidFill>
            <a:prstDash val="solid"/>
          </a:ln>
        </p:spPr>
        <p:txBody>
          <a:bodyPr/>
          <a:lstStyle/>
          <a:p>
            <a:endParaRPr lang="en-US"/>
          </a:p>
        </p:txBody>
      </p:sp>
      <p:sp>
        <p:nvSpPr>
          <p:cNvPr id="15" name="Shape 13"/>
          <p:cNvSpPr/>
          <p:nvPr/>
        </p:nvSpPr>
        <p:spPr>
          <a:xfrm>
            <a:off x="320040" y="2834640"/>
            <a:ext cx="4206240" cy="54864"/>
          </a:xfrm>
          <a:prstGeom prst="rect">
            <a:avLst/>
          </a:prstGeom>
          <a:solidFill>
            <a:srgbClr val="E8002D"/>
          </a:solidFill>
          <a:ln w="12700">
            <a:solidFill>
              <a:srgbClr val="E8002D"/>
            </a:solidFill>
            <a:prstDash val="solid"/>
          </a:ln>
        </p:spPr>
        <p:txBody>
          <a:bodyPr/>
          <a:lstStyle/>
          <a:p>
            <a:endParaRPr lang="en-US"/>
          </a:p>
        </p:txBody>
      </p:sp>
      <p:sp>
        <p:nvSpPr>
          <p:cNvPr id="16" name="Text 14"/>
          <p:cNvSpPr/>
          <p:nvPr/>
        </p:nvSpPr>
        <p:spPr>
          <a:xfrm>
            <a:off x="484632" y="2999232"/>
            <a:ext cx="502920" cy="438912"/>
          </a:xfrm>
          <a:prstGeom prst="rect">
            <a:avLst/>
          </a:prstGeom>
          <a:noFill/>
          <a:ln/>
        </p:spPr>
        <p:txBody>
          <a:bodyPr wrap="square" lIns="0" tIns="0" rIns="0" bIns="0" rtlCol="0" anchor="ctr"/>
          <a:lstStyle/>
          <a:p>
            <a:pPr marL="0" indent="0">
              <a:buNone/>
            </a:pPr>
            <a:r>
              <a:rPr lang="en-US" sz="2800" b="1" dirty="0">
                <a:solidFill>
                  <a:srgbClr val="E8002D"/>
                </a:solidFill>
                <a:latin typeface="Arial Black" pitchFamily="34" charset="0"/>
                <a:ea typeface="Arial Black" pitchFamily="34" charset="-122"/>
                <a:cs typeface="Arial Black" pitchFamily="34" charset="-120"/>
              </a:rPr>
              <a:t>03</a:t>
            </a:r>
            <a:endParaRPr lang="en-US" sz="2800" dirty="0"/>
          </a:p>
        </p:txBody>
      </p:sp>
      <p:sp>
        <p:nvSpPr>
          <p:cNvPr id="17" name="Text 15"/>
          <p:cNvSpPr/>
          <p:nvPr/>
        </p:nvSpPr>
        <p:spPr>
          <a:xfrm>
            <a:off x="484632" y="3429000"/>
            <a:ext cx="3931920" cy="292608"/>
          </a:xfrm>
          <a:prstGeom prst="rect">
            <a:avLst/>
          </a:prstGeom>
          <a:noFill/>
          <a:ln/>
        </p:spPr>
        <p:txBody>
          <a:bodyPr wrap="square" lIns="0" tIns="0" rIns="0" bIns="0" rtlCol="0" anchor="ctr"/>
          <a:lstStyle/>
          <a:p>
            <a:r>
              <a:rPr lang="en-US" sz="1300" b="1" dirty="0">
                <a:solidFill>
                  <a:srgbClr val="FFFFFF"/>
                </a:solidFill>
                <a:latin typeface="Calibri" pitchFamily="34" charset="0"/>
                <a:ea typeface="Calibri" pitchFamily="34" charset="-122"/>
                <a:cs typeface="Calibri" pitchFamily="34" charset="-120"/>
              </a:rPr>
              <a:t>Interpretability with minimal cost</a:t>
            </a:r>
            <a:endParaRPr lang="en-US" sz="1300" dirty="0"/>
          </a:p>
        </p:txBody>
      </p:sp>
      <p:sp>
        <p:nvSpPr>
          <p:cNvPr id="18" name="Text 16"/>
          <p:cNvSpPr/>
          <p:nvPr/>
        </p:nvSpPr>
        <p:spPr>
          <a:xfrm>
            <a:off x="484632" y="3730752"/>
            <a:ext cx="3931920" cy="685800"/>
          </a:xfrm>
          <a:prstGeom prst="rect">
            <a:avLst/>
          </a:prstGeom>
          <a:noFill/>
          <a:ln/>
        </p:spPr>
        <p:txBody>
          <a:bodyPr wrap="square" lIns="0" tIns="0" rIns="0" bIns="0" rtlCol="0" anchor="ctr"/>
          <a:lstStyle/>
          <a:p>
            <a:r>
              <a:rPr lang="en-US" sz="1100" dirty="0">
                <a:solidFill>
                  <a:srgbClr val="C8C8C8"/>
                </a:solidFill>
                <a:latin typeface="Calibri" pitchFamily="34" charset="0"/>
                <a:ea typeface="Calibri" pitchFamily="34" charset="-122"/>
                <a:cs typeface="Calibri" pitchFamily="34" charset="-120"/>
              </a:rPr>
              <a:t>The Decision Tree (AUC 0.931) trails the Random Forest (0.938) by only 0.007 while offering better transparency</a:t>
            </a:r>
          </a:p>
        </p:txBody>
      </p:sp>
      <p:sp>
        <p:nvSpPr>
          <p:cNvPr id="19" name="Shape 17"/>
          <p:cNvSpPr/>
          <p:nvPr/>
        </p:nvSpPr>
        <p:spPr>
          <a:xfrm>
            <a:off x="4754880" y="2834640"/>
            <a:ext cx="4206240" cy="1691640"/>
          </a:xfrm>
          <a:prstGeom prst="rect">
            <a:avLst/>
          </a:prstGeom>
          <a:solidFill>
            <a:srgbClr val="252535"/>
          </a:solidFill>
          <a:ln w="12700">
            <a:solidFill>
              <a:srgbClr val="383858"/>
            </a:solidFill>
            <a:prstDash val="solid"/>
          </a:ln>
        </p:spPr>
        <p:txBody>
          <a:bodyPr/>
          <a:lstStyle/>
          <a:p>
            <a:endParaRPr lang="en-US"/>
          </a:p>
        </p:txBody>
      </p:sp>
      <p:sp>
        <p:nvSpPr>
          <p:cNvPr id="20" name="Shape 18"/>
          <p:cNvSpPr/>
          <p:nvPr/>
        </p:nvSpPr>
        <p:spPr>
          <a:xfrm>
            <a:off x="4754880" y="2834640"/>
            <a:ext cx="4206240" cy="54864"/>
          </a:xfrm>
          <a:prstGeom prst="rect">
            <a:avLst/>
          </a:prstGeom>
          <a:solidFill>
            <a:srgbClr val="E8002D"/>
          </a:solidFill>
          <a:ln w="12700">
            <a:solidFill>
              <a:srgbClr val="E8002D"/>
            </a:solidFill>
            <a:prstDash val="solid"/>
          </a:ln>
        </p:spPr>
        <p:txBody>
          <a:bodyPr/>
          <a:lstStyle/>
          <a:p>
            <a:endParaRPr lang="en-US"/>
          </a:p>
        </p:txBody>
      </p:sp>
      <p:sp>
        <p:nvSpPr>
          <p:cNvPr id="21" name="Text 19"/>
          <p:cNvSpPr/>
          <p:nvPr/>
        </p:nvSpPr>
        <p:spPr>
          <a:xfrm>
            <a:off x="4919472" y="2999232"/>
            <a:ext cx="502920" cy="438912"/>
          </a:xfrm>
          <a:prstGeom prst="rect">
            <a:avLst/>
          </a:prstGeom>
          <a:noFill/>
          <a:ln/>
        </p:spPr>
        <p:txBody>
          <a:bodyPr wrap="square" lIns="0" tIns="0" rIns="0" bIns="0" rtlCol="0" anchor="ctr"/>
          <a:lstStyle/>
          <a:p>
            <a:pPr marL="0" indent="0">
              <a:buNone/>
            </a:pPr>
            <a:r>
              <a:rPr lang="en-US" sz="2800" b="1" dirty="0">
                <a:solidFill>
                  <a:srgbClr val="E8002D"/>
                </a:solidFill>
                <a:latin typeface="Arial Black" pitchFamily="34" charset="0"/>
                <a:ea typeface="Arial Black" pitchFamily="34" charset="-122"/>
                <a:cs typeface="Arial Black" pitchFamily="34" charset="-120"/>
              </a:rPr>
              <a:t>04</a:t>
            </a:r>
            <a:endParaRPr lang="en-US" sz="2800" dirty="0"/>
          </a:p>
        </p:txBody>
      </p:sp>
      <p:sp>
        <p:nvSpPr>
          <p:cNvPr id="22" name="Text 20"/>
          <p:cNvSpPr/>
          <p:nvPr/>
        </p:nvSpPr>
        <p:spPr>
          <a:xfrm>
            <a:off x="4919472" y="3429000"/>
            <a:ext cx="393192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The model can't predict chaos</a:t>
            </a:r>
            <a:endParaRPr lang="en-US" sz="1300" dirty="0"/>
          </a:p>
        </p:txBody>
      </p:sp>
      <p:sp>
        <p:nvSpPr>
          <p:cNvPr id="23" name="Text 21"/>
          <p:cNvSpPr/>
          <p:nvPr/>
        </p:nvSpPr>
        <p:spPr>
          <a:xfrm>
            <a:off x="4919472" y="3730752"/>
            <a:ext cx="3931920" cy="685800"/>
          </a:xfrm>
          <a:prstGeom prst="rect">
            <a:avLst/>
          </a:prstGeom>
          <a:noFill/>
          <a:ln/>
        </p:spPr>
        <p:txBody>
          <a:bodyPr wrap="square" lIns="0" tIns="0" rIns="0" bIns="0" rtlCol="0" anchor="ctr"/>
          <a:lstStyle/>
          <a:p>
            <a:pPr marL="0" indent="0">
              <a:buNone/>
            </a:pPr>
            <a:r>
              <a:rPr lang="en-US" sz="1100" dirty="0">
                <a:solidFill>
                  <a:srgbClr val="C8C8C8"/>
                </a:solidFill>
                <a:latin typeface="Calibri" pitchFamily="34" charset="0"/>
                <a:ea typeface="Calibri" pitchFamily="34" charset="-122"/>
                <a:cs typeface="Calibri" pitchFamily="34" charset="-120"/>
              </a:rPr>
              <a:t>False negatives tend to cluster in rain races, safety car periods, and DNFs ahead of the driver—events that no structured pre-race features or CSV data can fully capture.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151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002D"/>
          </a:solidFill>
          <a:ln w="12700">
            <a:solidFill>
              <a:srgbClr val="E8002D"/>
            </a:solidFill>
            <a:prstDash val="solid"/>
          </a:ln>
        </p:spPr>
        <p:txBody>
          <a:bodyPr/>
          <a:lstStyle/>
          <a:p>
            <a:endParaRPr lang="en-US"/>
          </a:p>
        </p:txBody>
      </p:sp>
      <p:sp>
        <p:nvSpPr>
          <p:cNvPr id="3" name="Text 1"/>
          <p:cNvSpPr/>
          <p:nvPr/>
        </p:nvSpPr>
        <p:spPr>
          <a:xfrm>
            <a:off x="365760" y="228600"/>
            <a:ext cx="8503920" cy="502920"/>
          </a:xfrm>
          <a:prstGeom prst="rect">
            <a:avLst/>
          </a:prstGeom>
          <a:noFill/>
          <a:ln/>
        </p:spPr>
        <p:txBody>
          <a:bodyPr wrap="square" lIns="0" tIns="0" rIns="0" bIns="0"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What We Learned</a:t>
            </a:r>
            <a:endParaRPr lang="en-US" sz="2800" dirty="0"/>
          </a:p>
        </p:txBody>
      </p:sp>
      <p:sp>
        <p:nvSpPr>
          <p:cNvPr id="4" name="Shape 2"/>
          <p:cNvSpPr/>
          <p:nvPr/>
        </p:nvSpPr>
        <p:spPr>
          <a:xfrm>
            <a:off x="320040" y="960120"/>
            <a:ext cx="8503920" cy="822960"/>
          </a:xfrm>
          <a:prstGeom prst="rect">
            <a:avLst/>
          </a:prstGeom>
          <a:solidFill>
            <a:srgbClr val="252535"/>
          </a:solidFill>
          <a:ln w="12700">
            <a:solidFill>
              <a:srgbClr val="383858"/>
            </a:solidFill>
            <a:prstDash val="solid"/>
          </a:ln>
        </p:spPr>
        <p:txBody>
          <a:bodyPr/>
          <a:lstStyle/>
          <a:p>
            <a:endParaRPr lang="en-US"/>
          </a:p>
        </p:txBody>
      </p:sp>
      <p:sp>
        <p:nvSpPr>
          <p:cNvPr id="5" name="Shape 3"/>
          <p:cNvSpPr/>
          <p:nvPr/>
        </p:nvSpPr>
        <p:spPr>
          <a:xfrm>
            <a:off x="320040" y="960120"/>
            <a:ext cx="54864" cy="822960"/>
          </a:xfrm>
          <a:prstGeom prst="rect">
            <a:avLst/>
          </a:prstGeom>
          <a:solidFill>
            <a:srgbClr val="E8002D"/>
          </a:solidFill>
          <a:ln w="12700">
            <a:solidFill>
              <a:srgbClr val="E8002D"/>
            </a:solidFill>
            <a:prstDash val="solid"/>
          </a:ln>
        </p:spPr>
        <p:txBody>
          <a:bodyPr/>
          <a:lstStyle/>
          <a:p>
            <a:endParaRPr lang="en-US"/>
          </a:p>
        </p:txBody>
      </p:sp>
      <p:sp>
        <p:nvSpPr>
          <p:cNvPr id="6" name="Text 4"/>
          <p:cNvSpPr/>
          <p:nvPr/>
        </p:nvSpPr>
        <p:spPr>
          <a:xfrm>
            <a:off x="457200" y="1051560"/>
            <a:ext cx="2560320" cy="256032"/>
          </a:xfrm>
          <a:prstGeom prst="rect">
            <a:avLst/>
          </a:prstGeom>
          <a:noFill/>
          <a:ln/>
        </p:spPr>
        <p:txBody>
          <a:bodyPr wrap="square" lIns="0" tIns="0" rIns="0" bIns="0" rtlCol="0" anchor="ctr"/>
          <a:lstStyle/>
          <a:p>
            <a:pPr marL="0" indent="0">
              <a:buNone/>
            </a:pPr>
            <a:r>
              <a:rPr lang="en-US" sz="1300" b="1" dirty="0">
                <a:solidFill>
                  <a:srgbClr val="E8002D"/>
                </a:solidFill>
                <a:latin typeface="Calibri" pitchFamily="34" charset="0"/>
                <a:ea typeface="Calibri" pitchFamily="34" charset="-122"/>
                <a:cs typeface="Calibri" pitchFamily="34" charset="-120"/>
              </a:rPr>
              <a:t>Data preprocessing</a:t>
            </a:r>
            <a:endParaRPr lang="en-US" sz="1300" dirty="0"/>
          </a:p>
        </p:txBody>
      </p:sp>
      <p:sp>
        <p:nvSpPr>
          <p:cNvPr id="7" name="Text 5"/>
          <p:cNvSpPr/>
          <p:nvPr/>
        </p:nvSpPr>
        <p:spPr>
          <a:xfrm>
            <a:off x="457200" y="1344168"/>
            <a:ext cx="8229600" cy="347472"/>
          </a:xfrm>
          <a:prstGeom prst="rect">
            <a:avLst/>
          </a:prstGeom>
          <a:noFill/>
          <a:ln/>
        </p:spPr>
        <p:txBody>
          <a:bodyPr wrap="square" lIns="0" tIns="0" rIns="0" bIns="0" rtlCol="0" anchor="ctr"/>
          <a:lstStyle/>
          <a:p>
            <a:r>
              <a:rPr lang="en-US" sz="1100" dirty="0">
                <a:solidFill>
                  <a:srgbClr val="C8C8C8"/>
                </a:solidFill>
                <a:latin typeface="Calibri" pitchFamily="34" charset="0"/>
                <a:ea typeface="Calibri" pitchFamily="34" charset="-122"/>
                <a:cs typeface="Calibri" pitchFamily="34" charset="-120"/>
              </a:rPr>
              <a:t>We spent more time on data preparation than modelling. The </a:t>
            </a:r>
            <a:r>
              <a:rPr lang="en-US" sz="1100" dirty="0" err="1">
                <a:solidFill>
                  <a:srgbClr val="C8C8C8"/>
                </a:solidFill>
                <a:latin typeface="Calibri" pitchFamily="34" charset="0"/>
                <a:ea typeface="Calibri" pitchFamily="34" charset="-122"/>
                <a:cs typeface="Calibri" pitchFamily="34" charset="-120"/>
              </a:rPr>
              <a:t>Ergast</a:t>
            </a:r>
            <a:r>
              <a:rPr lang="en-US" sz="1100" dirty="0">
                <a:solidFill>
                  <a:srgbClr val="C8C8C8"/>
                </a:solidFill>
                <a:latin typeface="Calibri" pitchFamily="34" charset="0"/>
                <a:ea typeface="Calibri" pitchFamily="34" charset="-122"/>
                <a:cs typeface="Calibri" pitchFamily="34" charset="-120"/>
              </a:rPr>
              <a:t> dataset uses \N for nulls, had some qualifying rows are missing entirely, and we had to apply .shift(1) to our rolling features to prevent the model from seeing the current race's result when predicting it.</a:t>
            </a:r>
            <a:endParaRPr lang="en-US" sz="1100" dirty="0"/>
          </a:p>
        </p:txBody>
      </p:sp>
      <p:sp>
        <p:nvSpPr>
          <p:cNvPr id="8" name="Shape 6"/>
          <p:cNvSpPr/>
          <p:nvPr/>
        </p:nvSpPr>
        <p:spPr>
          <a:xfrm>
            <a:off x="320040" y="1965960"/>
            <a:ext cx="8503920" cy="822960"/>
          </a:xfrm>
          <a:prstGeom prst="rect">
            <a:avLst/>
          </a:prstGeom>
          <a:solidFill>
            <a:srgbClr val="252535"/>
          </a:solidFill>
          <a:ln w="12700">
            <a:solidFill>
              <a:srgbClr val="383858"/>
            </a:solidFill>
            <a:prstDash val="solid"/>
          </a:ln>
        </p:spPr>
        <p:txBody>
          <a:bodyPr/>
          <a:lstStyle/>
          <a:p>
            <a:endParaRPr lang="en-US"/>
          </a:p>
        </p:txBody>
      </p:sp>
      <p:sp>
        <p:nvSpPr>
          <p:cNvPr id="9" name="Shape 7"/>
          <p:cNvSpPr/>
          <p:nvPr/>
        </p:nvSpPr>
        <p:spPr>
          <a:xfrm>
            <a:off x="320040" y="1965960"/>
            <a:ext cx="54864" cy="822960"/>
          </a:xfrm>
          <a:prstGeom prst="rect">
            <a:avLst/>
          </a:prstGeom>
          <a:solidFill>
            <a:srgbClr val="E8002D"/>
          </a:solidFill>
          <a:ln w="12700">
            <a:solidFill>
              <a:srgbClr val="E8002D"/>
            </a:solidFill>
            <a:prstDash val="solid"/>
          </a:ln>
        </p:spPr>
        <p:txBody>
          <a:bodyPr/>
          <a:lstStyle/>
          <a:p>
            <a:endParaRPr lang="en-US"/>
          </a:p>
        </p:txBody>
      </p:sp>
      <p:sp>
        <p:nvSpPr>
          <p:cNvPr id="10" name="Text 8"/>
          <p:cNvSpPr/>
          <p:nvPr/>
        </p:nvSpPr>
        <p:spPr>
          <a:xfrm>
            <a:off x="457200" y="2057400"/>
            <a:ext cx="2560320" cy="256032"/>
          </a:xfrm>
          <a:prstGeom prst="rect">
            <a:avLst/>
          </a:prstGeom>
          <a:noFill/>
          <a:ln/>
        </p:spPr>
        <p:txBody>
          <a:bodyPr wrap="square" lIns="0" tIns="0" rIns="0" bIns="0" rtlCol="0" anchor="ctr"/>
          <a:lstStyle/>
          <a:p>
            <a:pPr marL="0" indent="0">
              <a:buNone/>
            </a:pPr>
            <a:r>
              <a:rPr lang="en-US" sz="1300" b="1" dirty="0">
                <a:solidFill>
                  <a:srgbClr val="E8002D"/>
                </a:solidFill>
                <a:latin typeface="Calibri" pitchFamily="34" charset="0"/>
                <a:ea typeface="Calibri" pitchFamily="34" charset="-122"/>
                <a:cs typeface="Calibri" pitchFamily="34" charset="-120"/>
              </a:rPr>
              <a:t>Feature engineering</a:t>
            </a:r>
            <a:endParaRPr lang="en-US" sz="1300" dirty="0"/>
          </a:p>
        </p:txBody>
      </p:sp>
      <p:sp>
        <p:nvSpPr>
          <p:cNvPr id="11" name="Text 9"/>
          <p:cNvSpPr/>
          <p:nvPr/>
        </p:nvSpPr>
        <p:spPr>
          <a:xfrm>
            <a:off x="457200" y="2350008"/>
            <a:ext cx="8229600" cy="347472"/>
          </a:xfrm>
          <a:prstGeom prst="rect">
            <a:avLst/>
          </a:prstGeom>
          <a:noFill/>
          <a:ln/>
        </p:spPr>
        <p:txBody>
          <a:bodyPr wrap="square" lIns="0" tIns="0" rIns="0" bIns="0" rtlCol="0" anchor="ctr"/>
          <a:lstStyle/>
          <a:p>
            <a:pPr marL="0" indent="0">
              <a:buNone/>
            </a:pPr>
            <a:r>
              <a:rPr lang="en-US" sz="1100" dirty="0">
                <a:solidFill>
                  <a:srgbClr val="C8C8C8"/>
                </a:solidFill>
                <a:latin typeface="Calibri" pitchFamily="34" charset="0"/>
                <a:ea typeface="Calibri" pitchFamily="34" charset="-122"/>
                <a:cs typeface="Calibri" pitchFamily="34" charset="-120"/>
              </a:rPr>
              <a:t>Raw columns rarely feed straight into a model. Rolling averages, binary flags, and mean-encoding transformed the data into something useful.</a:t>
            </a:r>
            <a:endParaRPr lang="en-US" sz="1100" dirty="0"/>
          </a:p>
        </p:txBody>
      </p:sp>
      <p:sp>
        <p:nvSpPr>
          <p:cNvPr id="12" name="Shape 10"/>
          <p:cNvSpPr/>
          <p:nvPr/>
        </p:nvSpPr>
        <p:spPr>
          <a:xfrm>
            <a:off x="320040" y="2971800"/>
            <a:ext cx="8503920" cy="822960"/>
          </a:xfrm>
          <a:prstGeom prst="rect">
            <a:avLst/>
          </a:prstGeom>
          <a:solidFill>
            <a:srgbClr val="252535"/>
          </a:solidFill>
          <a:ln w="12700">
            <a:solidFill>
              <a:srgbClr val="383858"/>
            </a:solidFill>
            <a:prstDash val="solid"/>
          </a:ln>
        </p:spPr>
        <p:txBody>
          <a:bodyPr/>
          <a:lstStyle/>
          <a:p>
            <a:endParaRPr lang="en-US"/>
          </a:p>
        </p:txBody>
      </p:sp>
      <p:sp>
        <p:nvSpPr>
          <p:cNvPr id="13" name="Shape 11"/>
          <p:cNvSpPr/>
          <p:nvPr/>
        </p:nvSpPr>
        <p:spPr>
          <a:xfrm>
            <a:off x="320040" y="2971800"/>
            <a:ext cx="54864" cy="822960"/>
          </a:xfrm>
          <a:prstGeom prst="rect">
            <a:avLst/>
          </a:prstGeom>
          <a:solidFill>
            <a:srgbClr val="E8002D"/>
          </a:solidFill>
          <a:ln w="12700">
            <a:solidFill>
              <a:srgbClr val="E8002D"/>
            </a:solidFill>
            <a:prstDash val="solid"/>
          </a:ln>
        </p:spPr>
        <p:txBody>
          <a:bodyPr/>
          <a:lstStyle/>
          <a:p>
            <a:endParaRPr lang="en-US"/>
          </a:p>
        </p:txBody>
      </p:sp>
      <p:sp>
        <p:nvSpPr>
          <p:cNvPr id="14" name="Text 12"/>
          <p:cNvSpPr/>
          <p:nvPr/>
        </p:nvSpPr>
        <p:spPr>
          <a:xfrm>
            <a:off x="457200" y="3063240"/>
            <a:ext cx="2560320" cy="256032"/>
          </a:xfrm>
          <a:prstGeom prst="rect">
            <a:avLst/>
          </a:prstGeom>
          <a:noFill/>
          <a:ln/>
        </p:spPr>
        <p:txBody>
          <a:bodyPr wrap="square" lIns="0" tIns="0" rIns="0" bIns="0" rtlCol="0" anchor="ctr"/>
          <a:lstStyle/>
          <a:p>
            <a:pPr marL="0" indent="0">
              <a:buNone/>
            </a:pPr>
            <a:r>
              <a:rPr lang="en-US" sz="1300" b="1" dirty="0">
                <a:solidFill>
                  <a:srgbClr val="E8002D"/>
                </a:solidFill>
                <a:latin typeface="Calibri" pitchFamily="34" charset="0"/>
                <a:ea typeface="Calibri" pitchFamily="34" charset="-122"/>
                <a:cs typeface="Calibri" pitchFamily="34" charset="-120"/>
              </a:rPr>
              <a:t>Model evaluation</a:t>
            </a:r>
            <a:endParaRPr lang="en-US" sz="1300" dirty="0"/>
          </a:p>
        </p:txBody>
      </p:sp>
      <p:sp>
        <p:nvSpPr>
          <p:cNvPr id="15" name="Text 13"/>
          <p:cNvSpPr/>
          <p:nvPr/>
        </p:nvSpPr>
        <p:spPr>
          <a:xfrm>
            <a:off x="457200" y="3355848"/>
            <a:ext cx="8229600" cy="347472"/>
          </a:xfrm>
          <a:prstGeom prst="rect">
            <a:avLst/>
          </a:prstGeom>
          <a:noFill/>
          <a:ln/>
        </p:spPr>
        <p:txBody>
          <a:bodyPr wrap="square" lIns="0" tIns="0" rIns="0" bIns="0" rtlCol="0" anchor="ctr"/>
          <a:lstStyle/>
          <a:p>
            <a:r>
              <a:rPr lang="en-US" sz="1100" dirty="0">
                <a:solidFill>
                  <a:srgbClr val="C8C8C8"/>
                </a:solidFill>
                <a:latin typeface="Calibri" pitchFamily="34" charset="0"/>
                <a:ea typeface="Calibri" pitchFamily="34" charset="-122"/>
                <a:cs typeface="Calibri" pitchFamily="34" charset="-120"/>
              </a:rPr>
              <a:t>The initial accuracy of ~88% looked good until we realized a naive classifier that always predicts no podium would score ~85% due to class imbalance. AUC and F1-score gave a far more honest picture of model quality.</a:t>
            </a:r>
            <a:endParaRPr lang="en-US" sz="1100" dirty="0"/>
          </a:p>
        </p:txBody>
      </p:sp>
      <p:sp>
        <p:nvSpPr>
          <p:cNvPr id="16" name="Shape 14"/>
          <p:cNvSpPr/>
          <p:nvPr/>
        </p:nvSpPr>
        <p:spPr>
          <a:xfrm>
            <a:off x="320040" y="3977640"/>
            <a:ext cx="8503920" cy="822960"/>
          </a:xfrm>
          <a:prstGeom prst="rect">
            <a:avLst/>
          </a:prstGeom>
          <a:solidFill>
            <a:srgbClr val="252535"/>
          </a:solidFill>
          <a:ln w="12700">
            <a:solidFill>
              <a:srgbClr val="383858"/>
            </a:solidFill>
            <a:prstDash val="solid"/>
          </a:ln>
        </p:spPr>
        <p:txBody>
          <a:bodyPr/>
          <a:lstStyle/>
          <a:p>
            <a:endParaRPr lang="en-US"/>
          </a:p>
        </p:txBody>
      </p:sp>
      <p:sp>
        <p:nvSpPr>
          <p:cNvPr id="17" name="Shape 15"/>
          <p:cNvSpPr/>
          <p:nvPr/>
        </p:nvSpPr>
        <p:spPr>
          <a:xfrm>
            <a:off x="320040" y="3977640"/>
            <a:ext cx="54864" cy="822960"/>
          </a:xfrm>
          <a:prstGeom prst="rect">
            <a:avLst/>
          </a:prstGeom>
          <a:solidFill>
            <a:srgbClr val="E8002D"/>
          </a:solidFill>
          <a:ln w="12700">
            <a:solidFill>
              <a:srgbClr val="E8002D"/>
            </a:solidFill>
            <a:prstDash val="solid"/>
          </a:ln>
        </p:spPr>
        <p:txBody>
          <a:bodyPr/>
          <a:lstStyle/>
          <a:p>
            <a:endParaRPr lang="en-US"/>
          </a:p>
        </p:txBody>
      </p:sp>
      <p:sp>
        <p:nvSpPr>
          <p:cNvPr id="18" name="Text 16"/>
          <p:cNvSpPr/>
          <p:nvPr/>
        </p:nvSpPr>
        <p:spPr>
          <a:xfrm>
            <a:off x="457200" y="4069080"/>
            <a:ext cx="2560320" cy="256032"/>
          </a:xfrm>
          <a:prstGeom prst="rect">
            <a:avLst/>
          </a:prstGeom>
          <a:noFill/>
          <a:ln/>
        </p:spPr>
        <p:txBody>
          <a:bodyPr wrap="square" lIns="0" tIns="0" rIns="0" bIns="0" rtlCol="0" anchor="ctr"/>
          <a:lstStyle/>
          <a:p>
            <a:pPr marL="0" indent="0">
              <a:buNone/>
            </a:pPr>
            <a:r>
              <a:rPr lang="en-US" sz="1300" b="1" dirty="0">
                <a:solidFill>
                  <a:srgbClr val="E8002D"/>
                </a:solidFill>
                <a:latin typeface="Calibri" pitchFamily="34" charset="0"/>
                <a:ea typeface="Calibri" pitchFamily="34" charset="-122"/>
                <a:cs typeface="Calibri" pitchFamily="34" charset="-120"/>
              </a:rPr>
              <a:t>Interpretable ML</a:t>
            </a:r>
            <a:endParaRPr lang="en-US" sz="1300" dirty="0"/>
          </a:p>
        </p:txBody>
      </p:sp>
      <p:sp>
        <p:nvSpPr>
          <p:cNvPr id="19" name="Text 17"/>
          <p:cNvSpPr/>
          <p:nvPr/>
        </p:nvSpPr>
        <p:spPr>
          <a:xfrm>
            <a:off x="457200" y="4361688"/>
            <a:ext cx="8229600" cy="347472"/>
          </a:xfrm>
          <a:prstGeom prst="rect">
            <a:avLst/>
          </a:prstGeom>
          <a:noFill/>
          <a:ln/>
        </p:spPr>
        <p:txBody>
          <a:bodyPr wrap="square" lIns="0" tIns="0" rIns="0" bIns="0" rtlCol="0" anchor="ctr"/>
          <a:lstStyle/>
          <a:p>
            <a:r>
              <a:rPr lang="en-US" sz="1100" dirty="0">
                <a:solidFill>
                  <a:srgbClr val="C8C8C8"/>
                </a:solidFill>
                <a:latin typeface="Calibri" pitchFamily="34" charset="0"/>
                <a:ea typeface="Calibri" pitchFamily="34" charset="-122"/>
                <a:cs typeface="Calibri" pitchFamily="34" charset="-120"/>
              </a:rPr>
              <a:t>Being able to open the Decision Tree and trace exactly why it predicted a podium felt very useful. The Random Forest is only 0.007 AUC better, which isn’t enough to justify losing that level of explainability.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151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002D"/>
          </a:solidFill>
          <a:ln w="12700">
            <a:solidFill>
              <a:srgbClr val="E8002D"/>
            </a:solidFill>
            <a:prstDash val="solid"/>
          </a:ln>
        </p:spPr>
        <p:txBody>
          <a:bodyPr/>
          <a:lstStyle/>
          <a:p>
            <a:endParaRPr lang="en-US"/>
          </a:p>
        </p:txBody>
      </p:sp>
      <p:sp>
        <p:nvSpPr>
          <p:cNvPr id="3" name="Shape 1"/>
          <p:cNvSpPr/>
          <p:nvPr/>
        </p:nvSpPr>
        <p:spPr>
          <a:xfrm>
            <a:off x="0" y="5070348"/>
            <a:ext cx="9144000" cy="73152"/>
          </a:xfrm>
          <a:prstGeom prst="rect">
            <a:avLst/>
          </a:prstGeom>
          <a:solidFill>
            <a:srgbClr val="E8002D"/>
          </a:solidFill>
          <a:ln w="12700">
            <a:solidFill>
              <a:srgbClr val="E8002D"/>
            </a:solidFill>
            <a:prstDash val="solid"/>
          </a:ln>
        </p:spPr>
        <p:txBody>
          <a:bodyPr/>
          <a:lstStyle/>
          <a:p>
            <a:endParaRPr lang="en-US"/>
          </a:p>
        </p:txBody>
      </p:sp>
      <p:sp>
        <p:nvSpPr>
          <p:cNvPr id="4" name="Text 2"/>
          <p:cNvSpPr/>
          <p:nvPr/>
        </p:nvSpPr>
        <p:spPr>
          <a:xfrm>
            <a:off x="457200" y="1005840"/>
            <a:ext cx="8229600" cy="1280160"/>
          </a:xfrm>
          <a:prstGeom prst="rect">
            <a:avLst/>
          </a:prstGeom>
          <a:noFill/>
          <a:ln/>
        </p:spPr>
        <p:txBody>
          <a:bodyPr wrap="square" lIns="0" tIns="0" rIns="0" bIns="0" rtlCol="0" anchor="ctr"/>
          <a:lstStyle/>
          <a:p>
            <a:pPr marL="0" indent="0" algn="ctr">
              <a:buNone/>
            </a:pPr>
            <a:r>
              <a:rPr lang="en-US" sz="7200" b="1" dirty="0">
                <a:solidFill>
                  <a:srgbClr val="FFFFFF"/>
                </a:solidFill>
                <a:latin typeface="Arial Black" pitchFamily="34" charset="0"/>
                <a:ea typeface="Arial Black" pitchFamily="34" charset="-122"/>
                <a:cs typeface="Arial Black" pitchFamily="34" charset="-120"/>
              </a:rPr>
              <a:t>Thank You</a:t>
            </a:r>
            <a:endParaRPr lang="en-US" sz="7200" dirty="0"/>
          </a:p>
        </p:txBody>
      </p:sp>
      <p:sp>
        <p:nvSpPr>
          <p:cNvPr id="5" name="Text 3"/>
          <p:cNvSpPr/>
          <p:nvPr/>
        </p:nvSpPr>
        <p:spPr>
          <a:xfrm>
            <a:off x="457200" y="2286000"/>
            <a:ext cx="8229600" cy="640080"/>
          </a:xfrm>
          <a:prstGeom prst="rect">
            <a:avLst/>
          </a:prstGeom>
          <a:noFill/>
          <a:ln/>
        </p:spPr>
        <p:txBody>
          <a:bodyPr wrap="square" lIns="0" tIns="0" rIns="0" bIns="0" rtlCol="0" anchor="ctr"/>
          <a:lstStyle/>
          <a:p>
            <a:pPr marL="0" indent="0" algn="ctr">
              <a:buNone/>
            </a:pPr>
            <a:r>
              <a:rPr lang="en-US" sz="3200" dirty="0">
                <a:solidFill>
                  <a:srgbClr val="E8002D"/>
                </a:solidFill>
                <a:latin typeface="Arial Black" pitchFamily="34" charset="0"/>
                <a:ea typeface="Arial Black" pitchFamily="34" charset="-122"/>
                <a:cs typeface="Arial Black" pitchFamily="34" charset="-120"/>
              </a:rPr>
              <a:t>Questions?</a:t>
            </a:r>
            <a:endParaRPr lang="en-US" sz="3200" dirty="0"/>
          </a:p>
        </p:txBody>
      </p:sp>
      <p:sp>
        <p:nvSpPr>
          <p:cNvPr id="6" name="Shape 4"/>
          <p:cNvSpPr/>
          <p:nvPr/>
        </p:nvSpPr>
        <p:spPr>
          <a:xfrm>
            <a:off x="2286000" y="3108960"/>
            <a:ext cx="4572000" cy="54864"/>
          </a:xfrm>
          <a:prstGeom prst="rect">
            <a:avLst/>
          </a:prstGeom>
          <a:solidFill>
            <a:srgbClr val="333355"/>
          </a:solidFill>
          <a:ln w="12700">
            <a:solidFill>
              <a:srgbClr val="333355"/>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8eec281-aaa3-4dae-ac9b-9a398b9215e7}" enabled="0" method="" siteId="{a8eec281-aaa3-4dae-ac9b-9a398b9215e7}" removed="1"/>
</clbl:labelList>
</file>

<file path=docProps/app.xml><?xml version="1.0" encoding="utf-8"?>
<Properties xmlns="http://schemas.openxmlformats.org/officeDocument/2006/extended-properties" xmlns:vt="http://schemas.openxmlformats.org/officeDocument/2006/docPropsVTypes">
  <TotalTime>246</TotalTime>
  <Words>932</Words>
  <Application>Microsoft Macintosh PowerPoint</Application>
  <PresentationFormat>On-screen Show (16:9)</PresentationFormat>
  <Paragraphs>116</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Arial Black</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 Podium Prediction</dc:title>
  <dc:subject>PptxGenJS Presentation</dc:subject>
  <dc:creator>PptxGenJS</dc:creator>
  <cp:lastModifiedBy>Sunny Shen</cp:lastModifiedBy>
  <cp:revision>2</cp:revision>
  <dcterms:created xsi:type="dcterms:W3CDTF">2026-03-23T04:46:27Z</dcterms:created>
  <dcterms:modified xsi:type="dcterms:W3CDTF">2026-03-23T20:08:53Z</dcterms:modified>
</cp:coreProperties>
</file>